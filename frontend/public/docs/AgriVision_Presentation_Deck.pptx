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97" r:id="rId1"/>
  </p:sldMasterIdLst>
  <p:sldIdLst>
    <p:sldId id="256" r:id="rId2"/>
    <p:sldId id="275" r:id="rId3"/>
    <p:sldId id="276" r:id="rId4"/>
    <p:sldId id="277" r:id="rId5"/>
    <p:sldId id="278" r:id="rId6"/>
    <p:sldId id="279"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4" r:id="rId24"/>
    <p:sldId id="273"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4" d="100"/>
          <a:sy n="84" d="100"/>
        </p:scale>
        <p:origin x="629" y="7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7364C-724B-DEC6-0DC3-D5D9AC8B746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0B450BD-DF89-54FC-2F9E-D865F13BDB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7D807B4-C0F9-3E14-05C3-8DA12195486A}"/>
              </a:ext>
            </a:extLst>
          </p:cNvPr>
          <p:cNvSpPr>
            <a:spLocks noGrp="1"/>
          </p:cNvSpPr>
          <p:nvPr>
            <p:ph type="dt" sz="half" idx="10"/>
          </p:nvPr>
        </p:nvSpPr>
        <p:spPr/>
        <p:txBody>
          <a:bodyPr/>
          <a:lstStyle/>
          <a:p>
            <a:fld id="{5BCAD085-E8A6-8845-BD4E-CB4CCA059FC4}" type="datetimeFigureOut">
              <a:rPr lang="en-US" smtClean="0"/>
              <a:t>10/25/2026</a:t>
            </a:fld>
            <a:endParaRPr lang="en-US" dirty="0"/>
          </a:p>
        </p:txBody>
      </p:sp>
      <p:sp>
        <p:nvSpPr>
          <p:cNvPr id="5" name="Footer Placeholder 4">
            <a:extLst>
              <a:ext uri="{FF2B5EF4-FFF2-40B4-BE49-F238E27FC236}">
                <a16:creationId xmlns:a16="http://schemas.microsoft.com/office/drawing/2014/main" id="{916F733D-014F-699C-732A-1EF2D833CDF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DE02E06-A785-4BC1-C782-81DDF268F0CA}"/>
              </a:ext>
            </a:extLst>
          </p:cNvPr>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4446748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AB8725-7340-9CFF-E09B-E28EB0EB584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936D8A9-67C3-ED39-8594-6C54F9548CC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A7C2F96-7C56-6359-A443-127EF4860390}"/>
              </a:ext>
            </a:extLst>
          </p:cNvPr>
          <p:cNvSpPr>
            <a:spLocks noGrp="1"/>
          </p:cNvSpPr>
          <p:nvPr>
            <p:ph type="dt" sz="half" idx="10"/>
          </p:nvPr>
        </p:nvSpPr>
        <p:spPr/>
        <p:txBody>
          <a:bodyPr/>
          <a:lstStyle/>
          <a:p>
            <a:fld id="{5BCAD085-E8A6-8845-BD4E-CB4CCA059FC4}" type="datetimeFigureOut">
              <a:rPr lang="en-US" smtClean="0"/>
              <a:t>10/25/2026</a:t>
            </a:fld>
            <a:endParaRPr lang="en-US" dirty="0"/>
          </a:p>
        </p:txBody>
      </p:sp>
      <p:sp>
        <p:nvSpPr>
          <p:cNvPr id="5" name="Footer Placeholder 4">
            <a:extLst>
              <a:ext uri="{FF2B5EF4-FFF2-40B4-BE49-F238E27FC236}">
                <a16:creationId xmlns:a16="http://schemas.microsoft.com/office/drawing/2014/main" id="{430F36D6-C6C0-8870-E424-7BB01864954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D1369D6-3AC3-EF10-BEB1-3B1B7CCD8A62}"/>
              </a:ext>
            </a:extLst>
          </p:cNvPr>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8981076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9B78C-D1CC-32BB-75D6-88A6798C6D1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016D893-077A-C25B-9FF1-9B400C6E25D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EFA53D3-537E-7768-0D63-8FD0D75A597C}"/>
              </a:ext>
            </a:extLst>
          </p:cNvPr>
          <p:cNvSpPr>
            <a:spLocks noGrp="1"/>
          </p:cNvSpPr>
          <p:nvPr>
            <p:ph type="dt" sz="half" idx="10"/>
          </p:nvPr>
        </p:nvSpPr>
        <p:spPr/>
        <p:txBody>
          <a:bodyPr/>
          <a:lstStyle/>
          <a:p>
            <a:fld id="{5BCAD085-E8A6-8845-BD4E-CB4CCA059FC4}" type="datetimeFigureOut">
              <a:rPr lang="en-US" smtClean="0"/>
              <a:t>10/25/2026</a:t>
            </a:fld>
            <a:endParaRPr lang="en-US" dirty="0"/>
          </a:p>
        </p:txBody>
      </p:sp>
      <p:sp>
        <p:nvSpPr>
          <p:cNvPr id="5" name="Footer Placeholder 4">
            <a:extLst>
              <a:ext uri="{FF2B5EF4-FFF2-40B4-BE49-F238E27FC236}">
                <a16:creationId xmlns:a16="http://schemas.microsoft.com/office/drawing/2014/main" id="{555025D8-E538-3C57-F134-06C7BBB6140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C374BE7-BF2E-8262-6842-A3D284927F45}"/>
              </a:ext>
            </a:extLst>
          </p:cNvPr>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11696950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E29925-B40D-027E-4D6C-6F9756B17EB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C0C3F85-7594-98E2-FC33-4F3C71F344F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5B68615-B3F1-DE6E-DB67-845E146B5B8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5187C4D-20CB-6400-B5EA-102FB4E50826}"/>
              </a:ext>
            </a:extLst>
          </p:cNvPr>
          <p:cNvSpPr>
            <a:spLocks noGrp="1"/>
          </p:cNvSpPr>
          <p:nvPr>
            <p:ph type="dt" sz="half" idx="10"/>
          </p:nvPr>
        </p:nvSpPr>
        <p:spPr/>
        <p:txBody>
          <a:bodyPr/>
          <a:lstStyle/>
          <a:p>
            <a:fld id="{5BCAD085-E8A6-8845-BD4E-CB4CCA059FC4}" type="datetimeFigureOut">
              <a:rPr lang="en-US" smtClean="0"/>
              <a:t>10/25/2026</a:t>
            </a:fld>
            <a:endParaRPr lang="en-US" dirty="0"/>
          </a:p>
        </p:txBody>
      </p:sp>
      <p:sp>
        <p:nvSpPr>
          <p:cNvPr id="6" name="Footer Placeholder 5">
            <a:extLst>
              <a:ext uri="{FF2B5EF4-FFF2-40B4-BE49-F238E27FC236}">
                <a16:creationId xmlns:a16="http://schemas.microsoft.com/office/drawing/2014/main" id="{29F5B2E3-8A34-3402-1072-95B0280646C0}"/>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DB19883-1422-71B0-CEEF-D4D241B7BE96}"/>
              </a:ext>
            </a:extLst>
          </p:cNvPr>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4573028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6FFD7-907B-712E-BA4B-32C4110E09F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CF91E5A-F551-D177-5601-8CFA6E35D70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771EE8A-085E-4203-7588-12D6161B86F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E650A7A-80A7-3540-5E23-6B43C8919A2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A49E591-6C24-535D-3670-A0FFC672171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DAF2899-5E67-2623-8D1B-F3681E7FEA9E}"/>
              </a:ext>
            </a:extLst>
          </p:cNvPr>
          <p:cNvSpPr>
            <a:spLocks noGrp="1"/>
          </p:cNvSpPr>
          <p:nvPr>
            <p:ph type="dt" sz="half" idx="10"/>
          </p:nvPr>
        </p:nvSpPr>
        <p:spPr/>
        <p:txBody>
          <a:bodyPr/>
          <a:lstStyle/>
          <a:p>
            <a:fld id="{5BCAD085-E8A6-8845-BD4E-CB4CCA059FC4}" type="datetimeFigureOut">
              <a:rPr lang="en-US" smtClean="0"/>
              <a:t>10/25/2026</a:t>
            </a:fld>
            <a:endParaRPr lang="en-US" dirty="0"/>
          </a:p>
        </p:txBody>
      </p:sp>
      <p:sp>
        <p:nvSpPr>
          <p:cNvPr id="8" name="Footer Placeholder 7">
            <a:extLst>
              <a:ext uri="{FF2B5EF4-FFF2-40B4-BE49-F238E27FC236}">
                <a16:creationId xmlns:a16="http://schemas.microsoft.com/office/drawing/2014/main" id="{D5C0C25B-D059-EDD3-6AF1-E6677FCD2D7D}"/>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8D1493E-BA7F-CD37-2138-E22EFD3B4B35}"/>
              </a:ext>
            </a:extLst>
          </p:cNvPr>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11706014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0B479C-0320-1AAC-1A36-A7F20F0844A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6CB915F-4208-02F0-14C9-916F4F7B62E4}"/>
              </a:ext>
            </a:extLst>
          </p:cNvPr>
          <p:cNvSpPr>
            <a:spLocks noGrp="1"/>
          </p:cNvSpPr>
          <p:nvPr>
            <p:ph type="dt" sz="half" idx="10"/>
          </p:nvPr>
        </p:nvSpPr>
        <p:spPr/>
        <p:txBody>
          <a:bodyPr/>
          <a:lstStyle/>
          <a:p>
            <a:fld id="{5BCAD085-E8A6-8845-BD4E-CB4CCA059FC4}" type="datetimeFigureOut">
              <a:rPr lang="en-US" smtClean="0"/>
              <a:t>10/25/2026</a:t>
            </a:fld>
            <a:endParaRPr lang="en-US" dirty="0"/>
          </a:p>
        </p:txBody>
      </p:sp>
      <p:sp>
        <p:nvSpPr>
          <p:cNvPr id="4" name="Footer Placeholder 3">
            <a:extLst>
              <a:ext uri="{FF2B5EF4-FFF2-40B4-BE49-F238E27FC236}">
                <a16:creationId xmlns:a16="http://schemas.microsoft.com/office/drawing/2014/main" id="{15C87510-B2AE-8225-C7F2-27A53E003080}"/>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609312FA-5A75-4420-5DDC-BB3A8B355299}"/>
              </a:ext>
            </a:extLst>
          </p:cNvPr>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3654574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29E1E3D-796F-7B63-91DE-C44618508891}"/>
              </a:ext>
            </a:extLst>
          </p:cNvPr>
          <p:cNvSpPr>
            <a:spLocks noGrp="1"/>
          </p:cNvSpPr>
          <p:nvPr>
            <p:ph type="dt" sz="half" idx="10"/>
          </p:nvPr>
        </p:nvSpPr>
        <p:spPr/>
        <p:txBody>
          <a:bodyPr/>
          <a:lstStyle/>
          <a:p>
            <a:fld id="{5BCAD085-E8A6-8845-BD4E-CB4CCA059FC4}" type="datetimeFigureOut">
              <a:rPr lang="en-US" smtClean="0"/>
              <a:t>10/25/2026</a:t>
            </a:fld>
            <a:endParaRPr lang="en-US" dirty="0"/>
          </a:p>
        </p:txBody>
      </p:sp>
      <p:sp>
        <p:nvSpPr>
          <p:cNvPr id="3" name="Footer Placeholder 2">
            <a:extLst>
              <a:ext uri="{FF2B5EF4-FFF2-40B4-BE49-F238E27FC236}">
                <a16:creationId xmlns:a16="http://schemas.microsoft.com/office/drawing/2014/main" id="{3D09D2BC-6C31-73FC-4D75-089B68DFF8C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27C4ACB6-7327-8349-88AB-F863BF3E4A57}"/>
              </a:ext>
            </a:extLst>
          </p:cNvPr>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6922423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F5E827-FA4C-48FC-1338-99A12A6417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87678F1-13C3-668D-5201-A9C06B64F3A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9209107-D834-83BE-47F2-2B5782E04A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F9222B-5826-EB54-36E9-D616DECFD954}"/>
              </a:ext>
            </a:extLst>
          </p:cNvPr>
          <p:cNvSpPr>
            <a:spLocks noGrp="1"/>
          </p:cNvSpPr>
          <p:nvPr>
            <p:ph type="dt" sz="half" idx="10"/>
          </p:nvPr>
        </p:nvSpPr>
        <p:spPr/>
        <p:txBody>
          <a:bodyPr/>
          <a:lstStyle/>
          <a:p>
            <a:fld id="{5BCAD085-E8A6-8845-BD4E-CB4CCA059FC4}" type="datetimeFigureOut">
              <a:rPr lang="en-US" smtClean="0"/>
              <a:t>10/25/2026</a:t>
            </a:fld>
            <a:endParaRPr lang="en-US" dirty="0"/>
          </a:p>
        </p:txBody>
      </p:sp>
      <p:sp>
        <p:nvSpPr>
          <p:cNvPr id="6" name="Footer Placeholder 5">
            <a:extLst>
              <a:ext uri="{FF2B5EF4-FFF2-40B4-BE49-F238E27FC236}">
                <a16:creationId xmlns:a16="http://schemas.microsoft.com/office/drawing/2014/main" id="{44D04404-4830-9945-5DCB-1C51C309393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BFD09C7-4D80-A7DF-168D-C55FCED8C0FC}"/>
              </a:ext>
            </a:extLst>
          </p:cNvPr>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12791519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53A87-9C14-E67D-16D4-526EEDC66FB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1402D19-6CA2-1BCF-0C3D-F3FD2A204482}"/>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a:extLst>
              <a:ext uri="{FF2B5EF4-FFF2-40B4-BE49-F238E27FC236}">
                <a16:creationId xmlns:a16="http://schemas.microsoft.com/office/drawing/2014/main" id="{B60567B7-52B4-839E-7343-DA248616E1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C617C19-279B-16CF-70AE-486248C4370F}"/>
              </a:ext>
            </a:extLst>
          </p:cNvPr>
          <p:cNvSpPr>
            <a:spLocks noGrp="1"/>
          </p:cNvSpPr>
          <p:nvPr>
            <p:ph type="dt" sz="half" idx="10"/>
          </p:nvPr>
        </p:nvSpPr>
        <p:spPr/>
        <p:txBody>
          <a:bodyPr/>
          <a:lstStyle/>
          <a:p>
            <a:fld id="{5BCAD085-E8A6-8845-BD4E-CB4CCA059FC4}" type="datetimeFigureOut">
              <a:rPr lang="en-US" smtClean="0"/>
              <a:t>10/25/2026</a:t>
            </a:fld>
            <a:endParaRPr lang="en-US" dirty="0"/>
          </a:p>
        </p:txBody>
      </p:sp>
      <p:sp>
        <p:nvSpPr>
          <p:cNvPr id="6" name="Footer Placeholder 5">
            <a:extLst>
              <a:ext uri="{FF2B5EF4-FFF2-40B4-BE49-F238E27FC236}">
                <a16:creationId xmlns:a16="http://schemas.microsoft.com/office/drawing/2014/main" id="{A2907FD4-499F-B196-96BB-6C98D562C19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12B310A0-6AFE-D972-3637-23BBDE9B6396}"/>
              </a:ext>
            </a:extLst>
          </p:cNvPr>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15771143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BB11F-C1AD-087A-1BA5-09D10FACCC1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D8437E4-80A8-1095-E6FE-B0D259BCCD0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52705A1-1532-67AD-9FC6-FB39D9509A15}"/>
              </a:ext>
            </a:extLst>
          </p:cNvPr>
          <p:cNvSpPr>
            <a:spLocks noGrp="1"/>
          </p:cNvSpPr>
          <p:nvPr>
            <p:ph type="dt" sz="half" idx="10"/>
          </p:nvPr>
        </p:nvSpPr>
        <p:spPr/>
        <p:txBody>
          <a:bodyPr/>
          <a:lstStyle/>
          <a:p>
            <a:fld id="{5BCAD085-E8A6-8845-BD4E-CB4CCA059FC4}" type="datetimeFigureOut">
              <a:rPr lang="en-US" smtClean="0"/>
              <a:t>10/25/2026</a:t>
            </a:fld>
            <a:endParaRPr lang="en-US" dirty="0"/>
          </a:p>
        </p:txBody>
      </p:sp>
      <p:sp>
        <p:nvSpPr>
          <p:cNvPr id="5" name="Footer Placeholder 4">
            <a:extLst>
              <a:ext uri="{FF2B5EF4-FFF2-40B4-BE49-F238E27FC236}">
                <a16:creationId xmlns:a16="http://schemas.microsoft.com/office/drawing/2014/main" id="{D33AF6F0-42F0-6022-8C8A-45203872627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64973CB-F83F-EA10-268E-DDA8FBD90AB1}"/>
              </a:ext>
            </a:extLst>
          </p:cNvPr>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18255921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2EF366E-D608-099B-E8B5-205FB3EE11D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80C7E3F-6E0B-4272-B433-6D8D24BD580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10464D1-2C23-543E-C2B6-07A248F6D451}"/>
              </a:ext>
            </a:extLst>
          </p:cNvPr>
          <p:cNvSpPr>
            <a:spLocks noGrp="1"/>
          </p:cNvSpPr>
          <p:nvPr>
            <p:ph type="dt" sz="half" idx="10"/>
          </p:nvPr>
        </p:nvSpPr>
        <p:spPr/>
        <p:txBody>
          <a:bodyPr/>
          <a:lstStyle/>
          <a:p>
            <a:fld id="{5BCAD085-E8A6-8845-BD4E-CB4CCA059FC4}" type="datetimeFigureOut">
              <a:rPr lang="en-US" smtClean="0"/>
              <a:t>10/25/2026</a:t>
            </a:fld>
            <a:endParaRPr lang="en-US" dirty="0"/>
          </a:p>
        </p:txBody>
      </p:sp>
      <p:sp>
        <p:nvSpPr>
          <p:cNvPr id="5" name="Footer Placeholder 4">
            <a:extLst>
              <a:ext uri="{FF2B5EF4-FFF2-40B4-BE49-F238E27FC236}">
                <a16:creationId xmlns:a16="http://schemas.microsoft.com/office/drawing/2014/main" id="{36F5F65E-64ED-7003-DEE7-BEC307E2034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24951BD-7DB9-06A3-EACC-557617B36BD2}"/>
              </a:ext>
            </a:extLst>
          </p:cNvPr>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11183886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2212879-DB3B-2F39-D679-A787E541FC6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887B896-AF3E-23E7-8EA7-6A40FE5571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6637C31-6032-602E-C2BB-F9EF94F713E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10/25/2026</a:t>
            </a:fld>
            <a:endParaRPr lang="en-US" dirty="0"/>
          </a:p>
        </p:txBody>
      </p:sp>
      <p:sp>
        <p:nvSpPr>
          <p:cNvPr id="5" name="Footer Placeholder 4">
            <a:extLst>
              <a:ext uri="{FF2B5EF4-FFF2-40B4-BE49-F238E27FC236}">
                <a16:creationId xmlns:a16="http://schemas.microsoft.com/office/drawing/2014/main" id="{3B7173BD-59A2-1AD5-109B-767505F1844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38A27572-BFB7-BA9D-E13A-0EA9900EE04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dirty="0"/>
          </a:p>
        </p:txBody>
      </p:sp>
    </p:spTree>
    <p:extLst>
      <p:ext uri="{BB962C8B-B14F-4D97-AF65-F5344CB8AC3E}">
        <p14:creationId xmlns:p14="http://schemas.microsoft.com/office/powerpoint/2010/main" val="500064330"/>
      </p:ext>
    </p:extLst>
  </p:cSld>
  <p:clrMap bg1="lt1" tx1="dk1" bg2="lt2" tx2="dk2" accent1="accent1" accent2="accent2" accent3="accent3" accent4="accent4" accent5="accent5" accent6="accent6" hlink="hlink" folHlink="folHlink"/>
  <p:sldLayoutIdLst>
    <p:sldLayoutId id="2147483798" r:id="rId1"/>
    <p:sldLayoutId id="2147483799" r:id="rId2"/>
    <p:sldLayoutId id="2147483800" r:id="rId3"/>
    <p:sldLayoutId id="2147483801" r:id="rId4"/>
    <p:sldLayoutId id="2147483802" r:id="rId5"/>
    <p:sldLayoutId id="2147483803" r:id="rId6"/>
    <p:sldLayoutId id="2147483804" r:id="rId7"/>
    <p:sldLayoutId id="2147483805" r:id="rId8"/>
    <p:sldLayoutId id="2147483806" r:id="rId9"/>
    <p:sldLayoutId id="2147483807" r:id="rId10"/>
    <p:sldLayoutId id="214748380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731520" y="1097280"/>
            <a:ext cx="3474720" cy="347472"/>
          </a:xfrm>
          <a:prstGeom prst="round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0F172A"/>
                </a:solidFill>
              </a:defRPr>
            </a:pPr>
            <a:r>
              <a:rPr dirty="0"/>
              <a:t>🌱 UNIVERSAL AGRICULTURAL DECISION PLATFORM</a:t>
            </a:r>
          </a:p>
        </p:txBody>
      </p:sp>
      <p:sp>
        <p:nvSpPr>
          <p:cNvPr id="3" name="TextBox 2"/>
          <p:cNvSpPr txBox="1"/>
          <p:nvPr/>
        </p:nvSpPr>
        <p:spPr>
          <a:xfrm>
            <a:off x="745236" y="1682496"/>
            <a:ext cx="10698480" cy="2308324"/>
          </a:xfrm>
          <a:prstGeom prst="rect">
            <a:avLst/>
          </a:prstGeom>
          <a:noFill/>
        </p:spPr>
        <p:txBody>
          <a:bodyPr wrap="square">
            <a:spAutoFit/>
          </a:bodyPr>
          <a:lstStyle/>
          <a:p>
            <a:pPr>
              <a:defRPr sz="3600" b="1">
                <a:solidFill>
                  <a:srgbClr val="FFFFFF"/>
                </a:solidFill>
              </a:defRPr>
            </a:pPr>
            <a:r>
              <a:rPr dirty="0">
                <a:solidFill>
                  <a:schemeClr val="tx1">
                    <a:lumMod val="95000"/>
                    <a:lumOff val="5000"/>
                  </a:schemeClr>
                </a:solidFill>
              </a:rPr>
              <a:t>AgriVision: Multilingual AI &amp;</a:t>
            </a:r>
            <a:br>
              <a:rPr dirty="0">
                <a:solidFill>
                  <a:schemeClr val="tx1">
                    <a:lumMod val="95000"/>
                    <a:lumOff val="5000"/>
                  </a:schemeClr>
                </a:solidFill>
              </a:rPr>
            </a:br>
            <a:r>
              <a:rPr dirty="0">
                <a:solidFill>
                  <a:schemeClr val="tx1">
                    <a:lumMod val="95000"/>
                    <a:lumOff val="5000"/>
                  </a:schemeClr>
                </a:solidFill>
              </a:rPr>
              <a:t>Precision Market Intelligence for Farmers</a:t>
            </a:r>
          </a:p>
          <a:p>
            <a:br>
              <a:rPr dirty="0">
                <a:solidFill>
                  <a:schemeClr val="tx1">
                    <a:lumMod val="95000"/>
                    <a:lumOff val="5000"/>
                  </a:schemeClr>
                </a:solidFill>
              </a:rPr>
            </a:br>
            <a:r>
              <a:rPr dirty="0">
                <a:solidFill>
                  <a:schemeClr val="tx1">
                    <a:lumMod val="95000"/>
                    <a:lumOff val="5000"/>
                  </a:schemeClr>
                </a:solidFill>
              </a:rPr>
              <a:t>A farmer-centric mobile decision platform engineered specifically for Indian smallholders to detect crop leaf diseases,</a:t>
            </a:r>
            <a:br>
              <a:rPr dirty="0">
                <a:solidFill>
                  <a:schemeClr val="tx1">
                    <a:lumMod val="95000"/>
                    <a:lumOff val="5000"/>
                  </a:schemeClr>
                </a:solidFill>
              </a:rPr>
            </a:br>
            <a:r>
              <a:rPr dirty="0">
                <a:solidFill>
                  <a:schemeClr val="tx1">
                    <a:lumMod val="95000"/>
                    <a:lumOff val="5000"/>
                  </a:schemeClr>
                </a:solidFill>
              </a:rPr>
              <a:t>forecast APMC mandi prices, and optimize seasonal crop yields through voice and local languages.</a:t>
            </a:r>
          </a:p>
        </p:txBody>
      </p:sp>
      <p:sp>
        <p:nvSpPr>
          <p:cNvPr id="4" name="Rectangle 3"/>
          <p:cNvSpPr/>
          <p:nvPr/>
        </p:nvSpPr>
        <p:spPr>
          <a:xfrm>
            <a:off x="731520" y="4754880"/>
            <a:ext cx="10725912" cy="18288"/>
          </a:xfrm>
          <a:prstGeom prst="rect">
            <a:avLst/>
          </a:prstGeom>
          <a:solidFill>
            <a:srgbClr val="334155"/>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5" name="TextBox 4"/>
          <p:cNvSpPr txBox="1"/>
          <p:nvPr/>
        </p:nvSpPr>
        <p:spPr>
          <a:xfrm>
            <a:off x="731520" y="4937760"/>
            <a:ext cx="2894831" cy="430887"/>
          </a:xfrm>
          <a:prstGeom prst="rect">
            <a:avLst/>
          </a:prstGeom>
          <a:noFill/>
        </p:spPr>
        <p:txBody>
          <a:bodyPr wrap="none">
            <a:spAutoFit/>
          </a:bodyPr>
          <a:lstStyle/>
          <a:p>
            <a:pPr>
              <a:defRPr sz="1000" b="1">
                <a:solidFill>
                  <a:srgbClr val="10B981"/>
                </a:solidFill>
              </a:defRPr>
            </a:pPr>
            <a:r>
              <a:rPr dirty="0">
                <a:solidFill>
                  <a:srgbClr val="00B050"/>
                </a:solidFill>
              </a:rPr>
              <a:t>CORE FOCUS</a:t>
            </a:r>
          </a:p>
          <a:p>
            <a:pPr>
              <a:defRPr sz="1200">
                <a:solidFill>
                  <a:srgbClr val="FFFFFF"/>
                </a:solidFill>
              </a:defRPr>
            </a:pPr>
            <a:r>
              <a:rPr dirty="0">
                <a:solidFill>
                  <a:schemeClr val="tx1">
                    <a:lumMod val="95000"/>
                    <a:lumOff val="5000"/>
                  </a:schemeClr>
                </a:solidFill>
              </a:rPr>
              <a:t>Leaf Disease Vision &amp; APMC Price Arbitrage</a:t>
            </a:r>
          </a:p>
        </p:txBody>
      </p:sp>
      <p:sp>
        <p:nvSpPr>
          <p:cNvPr id="6" name="TextBox 5"/>
          <p:cNvSpPr txBox="1"/>
          <p:nvPr/>
        </p:nvSpPr>
        <p:spPr>
          <a:xfrm>
            <a:off x="4389120" y="4937760"/>
            <a:ext cx="2662908" cy="430887"/>
          </a:xfrm>
          <a:prstGeom prst="rect">
            <a:avLst/>
          </a:prstGeom>
          <a:noFill/>
        </p:spPr>
        <p:txBody>
          <a:bodyPr wrap="none">
            <a:spAutoFit/>
          </a:bodyPr>
          <a:lstStyle/>
          <a:p>
            <a:pPr>
              <a:defRPr sz="1000" b="1">
                <a:solidFill>
                  <a:srgbClr val="10B981"/>
                </a:solidFill>
              </a:defRPr>
            </a:pPr>
            <a:r>
              <a:rPr dirty="0">
                <a:solidFill>
                  <a:srgbClr val="00B050"/>
                </a:solidFill>
              </a:rPr>
              <a:t>EXPERIENCE</a:t>
            </a:r>
          </a:p>
          <a:p>
            <a:pPr>
              <a:defRPr sz="1200">
                <a:solidFill>
                  <a:srgbClr val="FFFFFF"/>
                </a:solidFill>
              </a:defRPr>
            </a:pPr>
            <a:r>
              <a:rPr dirty="0">
                <a:solidFill>
                  <a:schemeClr val="tx1">
                    <a:lumMod val="95000"/>
                    <a:lumOff val="5000"/>
                  </a:schemeClr>
                </a:solidFill>
              </a:rPr>
              <a:t>Dual Adaptation &amp; Marathi/Hindi Audio</a:t>
            </a:r>
          </a:p>
        </p:txBody>
      </p:sp>
      <p:sp>
        <p:nvSpPr>
          <p:cNvPr id="7" name="TextBox 6"/>
          <p:cNvSpPr txBox="1"/>
          <p:nvPr/>
        </p:nvSpPr>
        <p:spPr>
          <a:xfrm>
            <a:off x="8046720" y="4937760"/>
            <a:ext cx="3144579" cy="430887"/>
          </a:xfrm>
          <a:prstGeom prst="rect">
            <a:avLst/>
          </a:prstGeom>
          <a:noFill/>
        </p:spPr>
        <p:txBody>
          <a:bodyPr wrap="none">
            <a:spAutoFit/>
          </a:bodyPr>
          <a:lstStyle/>
          <a:p>
            <a:pPr>
              <a:defRPr sz="1000" b="1">
                <a:solidFill>
                  <a:srgbClr val="10B981"/>
                </a:solidFill>
              </a:defRPr>
            </a:pPr>
            <a:r>
              <a:rPr dirty="0">
                <a:solidFill>
                  <a:srgbClr val="00B050"/>
                </a:solidFill>
              </a:rPr>
              <a:t>MISSION</a:t>
            </a:r>
          </a:p>
          <a:p>
            <a:pPr>
              <a:defRPr sz="1200">
                <a:solidFill>
                  <a:srgbClr val="FFFFFF"/>
                </a:solidFill>
              </a:defRPr>
            </a:pPr>
            <a:r>
              <a:rPr dirty="0">
                <a:solidFill>
                  <a:schemeClr val="tx1">
                    <a:lumMod val="95000"/>
                    <a:lumOff val="5000"/>
                  </a:schemeClr>
                </a:solidFill>
              </a:rPr>
              <a:t>Accessible Agronomy &amp; Direct Market Freedom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49A4EECB-808E-1530-5202-182C98CDE97D}"/>
              </a:ext>
            </a:extLst>
          </p:cNvPr>
          <p:cNvPicPr>
            <a:picLocks noChangeAspect="1"/>
          </p:cNvPicPr>
          <p:nvPr/>
        </p:nvPicPr>
        <p:blipFill>
          <a:blip r:embed="rId2"/>
          <a:stretch>
            <a:fillRect/>
          </a:stretch>
        </p:blipFill>
        <p:spPr>
          <a:xfrm>
            <a:off x="3048000" y="0"/>
            <a:ext cx="6096000" cy="6858000"/>
          </a:xfrm>
          <a:prstGeom prst="rect">
            <a:avLst/>
          </a:prstGeom>
        </p:spPr>
      </p:pic>
    </p:spTree>
    <p:extLst>
      <p:ext uri="{BB962C8B-B14F-4D97-AF65-F5344CB8AC3E}">
        <p14:creationId xmlns:p14="http://schemas.microsoft.com/office/powerpoint/2010/main" val="9933349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EE09D23-3C10-C644-DAC3-F33479092AE2}"/>
              </a:ext>
            </a:extLst>
          </p:cNvPr>
          <p:cNvPicPr>
            <a:picLocks noChangeAspect="1"/>
          </p:cNvPicPr>
          <p:nvPr/>
        </p:nvPicPr>
        <p:blipFill>
          <a:blip r:embed="rId2"/>
          <a:stretch>
            <a:fillRect/>
          </a:stretch>
        </p:blipFill>
        <p:spPr>
          <a:xfrm>
            <a:off x="3398286" y="281667"/>
            <a:ext cx="5395428" cy="6294665"/>
          </a:xfrm>
          <a:prstGeom prst="rect">
            <a:avLst/>
          </a:prstGeom>
        </p:spPr>
      </p:pic>
    </p:spTree>
    <p:extLst>
      <p:ext uri="{BB962C8B-B14F-4D97-AF65-F5344CB8AC3E}">
        <p14:creationId xmlns:p14="http://schemas.microsoft.com/office/powerpoint/2010/main" val="15969921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51E1BC2-9AD7-C079-E650-58815429CF3E}"/>
              </a:ext>
            </a:extLst>
          </p:cNvPr>
          <p:cNvPicPr>
            <a:picLocks noChangeAspect="1"/>
          </p:cNvPicPr>
          <p:nvPr/>
        </p:nvPicPr>
        <p:blipFill>
          <a:blip r:embed="rId2"/>
          <a:stretch>
            <a:fillRect/>
          </a:stretch>
        </p:blipFill>
        <p:spPr>
          <a:xfrm>
            <a:off x="3405907" y="293098"/>
            <a:ext cx="5380186" cy="6271803"/>
          </a:xfrm>
          <a:prstGeom prst="rect">
            <a:avLst/>
          </a:prstGeom>
        </p:spPr>
      </p:pic>
    </p:spTree>
    <p:extLst>
      <p:ext uri="{BB962C8B-B14F-4D97-AF65-F5344CB8AC3E}">
        <p14:creationId xmlns:p14="http://schemas.microsoft.com/office/powerpoint/2010/main" val="23839694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6ED8B6F-EEEA-1CBA-7A0B-58B32EE4D88E}"/>
              </a:ext>
            </a:extLst>
          </p:cNvPr>
          <p:cNvPicPr>
            <a:picLocks noChangeAspect="1"/>
          </p:cNvPicPr>
          <p:nvPr/>
        </p:nvPicPr>
        <p:blipFill>
          <a:blip r:embed="rId2"/>
          <a:stretch>
            <a:fillRect/>
          </a:stretch>
        </p:blipFill>
        <p:spPr>
          <a:xfrm>
            <a:off x="3402096" y="296908"/>
            <a:ext cx="5387807" cy="6264183"/>
          </a:xfrm>
          <a:prstGeom prst="rect">
            <a:avLst/>
          </a:prstGeom>
        </p:spPr>
      </p:pic>
    </p:spTree>
    <p:extLst>
      <p:ext uri="{BB962C8B-B14F-4D97-AF65-F5344CB8AC3E}">
        <p14:creationId xmlns:p14="http://schemas.microsoft.com/office/powerpoint/2010/main" val="11518276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4677BDD-0C76-9042-E7CB-CE907775C43F}"/>
              </a:ext>
            </a:extLst>
          </p:cNvPr>
          <p:cNvPicPr>
            <a:picLocks noChangeAspect="1"/>
          </p:cNvPicPr>
          <p:nvPr/>
        </p:nvPicPr>
        <p:blipFill>
          <a:blip r:embed="rId2"/>
          <a:stretch>
            <a:fillRect/>
          </a:stretch>
        </p:blipFill>
        <p:spPr>
          <a:xfrm>
            <a:off x="3417338" y="1462869"/>
            <a:ext cx="5357324" cy="3932261"/>
          </a:xfrm>
          <a:prstGeom prst="rect">
            <a:avLst/>
          </a:prstGeom>
        </p:spPr>
      </p:pic>
    </p:spTree>
    <p:extLst>
      <p:ext uri="{BB962C8B-B14F-4D97-AF65-F5344CB8AC3E}">
        <p14:creationId xmlns:p14="http://schemas.microsoft.com/office/powerpoint/2010/main" val="39869881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457200"/>
            <a:ext cx="10698480" cy="365760"/>
          </a:xfrm>
          <a:prstGeom prst="rect">
            <a:avLst/>
          </a:prstGeom>
          <a:noFill/>
        </p:spPr>
        <p:txBody>
          <a:bodyPr wrap="square" lIns="0" tIns="0" rIns="0" bIns="0">
            <a:spAutoFit/>
          </a:bodyPr>
          <a:lstStyle/>
          <a:p>
            <a:pPr>
              <a:defRPr sz="1100" b="1">
                <a:solidFill>
                  <a:srgbClr val="059669"/>
                </a:solidFill>
              </a:defRPr>
            </a:pPr>
            <a:r>
              <a:rPr dirty="0"/>
              <a:t>PROBLEM &amp; IMPACT</a:t>
            </a:r>
          </a:p>
        </p:txBody>
      </p:sp>
      <p:sp>
        <p:nvSpPr>
          <p:cNvPr id="3" name="TextBox 2"/>
          <p:cNvSpPr txBox="1"/>
          <p:nvPr/>
        </p:nvSpPr>
        <p:spPr>
          <a:xfrm>
            <a:off x="731520" y="777240"/>
            <a:ext cx="10698480" cy="548640"/>
          </a:xfrm>
          <a:prstGeom prst="rect">
            <a:avLst/>
          </a:prstGeom>
          <a:noFill/>
        </p:spPr>
        <p:txBody>
          <a:bodyPr wrap="square" lIns="0" tIns="0" rIns="0" bIns="0">
            <a:spAutoFit/>
          </a:bodyPr>
          <a:lstStyle/>
          <a:p>
            <a:pPr>
              <a:defRPr sz="2400" b="1">
                <a:solidFill>
                  <a:srgbClr val="0F172A"/>
                </a:solidFill>
              </a:defRPr>
            </a:pPr>
            <a:r>
              <a:rPr dirty="0"/>
              <a:t>The Critical Agronomic &amp; Economic Void</a:t>
            </a:r>
          </a:p>
        </p:txBody>
      </p:sp>
      <p:sp>
        <p:nvSpPr>
          <p:cNvPr id="4" name="TextBox 3"/>
          <p:cNvSpPr txBox="1"/>
          <p:nvPr/>
        </p:nvSpPr>
        <p:spPr>
          <a:xfrm>
            <a:off x="731520" y="1325880"/>
            <a:ext cx="10698480" cy="365760"/>
          </a:xfrm>
          <a:prstGeom prst="rect">
            <a:avLst/>
          </a:prstGeom>
          <a:noFill/>
        </p:spPr>
        <p:txBody>
          <a:bodyPr wrap="square" lIns="0" tIns="0" rIns="0" bIns="0">
            <a:spAutoFit/>
          </a:bodyPr>
          <a:lstStyle/>
          <a:p>
            <a:pPr>
              <a:defRPr sz="1200">
                <a:solidFill>
                  <a:srgbClr val="64748B"/>
                </a:solidFill>
              </a:defRPr>
            </a:pPr>
            <a:r>
              <a:rPr dirty="0"/>
              <a:t>Fragmented advisory, aggressive pesticide bundling, and opaque mandi pricing cost Indian farmers billions annually.</a:t>
            </a:r>
          </a:p>
        </p:txBody>
      </p:sp>
      <p:sp>
        <p:nvSpPr>
          <p:cNvPr id="5" name="Rounded Rectangle 4"/>
          <p:cNvSpPr/>
          <p:nvPr/>
        </p:nvSpPr>
        <p:spPr>
          <a:xfrm>
            <a:off x="731520" y="1920240"/>
            <a:ext cx="2560320" cy="3383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228600" rIns="182880" rtlCol="0" anchor="ctr"/>
          <a:lstStyle/>
          <a:p>
            <a:pPr algn="ctr">
              <a:defRPr sz="1400" b="1">
                <a:solidFill>
                  <a:srgbClr val="0F172A"/>
                </a:solidFill>
              </a:defRPr>
            </a:pPr>
            <a:r>
              <a:rPr sz="1200" dirty="0">
                <a:solidFill>
                  <a:schemeClr val="tx1"/>
                </a:solidFill>
              </a:rPr>
              <a:t>🧪</a:t>
            </a:r>
            <a:br>
              <a:rPr sz="1200" dirty="0">
                <a:solidFill>
                  <a:schemeClr val="tx1"/>
                </a:solidFill>
              </a:rPr>
            </a:br>
            <a:br>
              <a:rPr sz="1200" dirty="0">
                <a:solidFill>
                  <a:schemeClr val="tx1"/>
                </a:solidFill>
              </a:rPr>
            </a:br>
            <a:r>
              <a:rPr sz="1200" dirty="0">
                <a:solidFill>
                  <a:schemeClr val="tx1"/>
                </a:solidFill>
              </a:rPr>
              <a:t>Retail Agrochemical Exploitation</a:t>
            </a:r>
          </a:p>
          <a:p>
            <a:br>
              <a:rPr sz="1600" dirty="0">
                <a:solidFill>
                  <a:schemeClr val="tx1"/>
                </a:solidFill>
              </a:rPr>
            </a:br>
            <a:r>
              <a:rPr sz="1600" dirty="0">
                <a:solidFill>
                  <a:schemeClr val="tx1"/>
                </a:solidFill>
              </a:rPr>
              <a:t>Dealers push ₹2,000–₹4,000 of unneeded tonics without diagnosing the actual pathogen; no exact dosages per 15L pump.</a:t>
            </a:r>
          </a:p>
        </p:txBody>
      </p:sp>
      <p:sp>
        <p:nvSpPr>
          <p:cNvPr id="6" name="Rounded Rectangle 5"/>
          <p:cNvSpPr/>
          <p:nvPr/>
        </p:nvSpPr>
        <p:spPr>
          <a:xfrm>
            <a:off x="3456432" y="1920240"/>
            <a:ext cx="2560320" cy="3383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228600" rIns="182880" rtlCol="0" anchor="ctr"/>
          <a:lstStyle/>
          <a:p>
            <a:pPr algn="ctr">
              <a:defRPr sz="1400" b="1">
                <a:solidFill>
                  <a:srgbClr val="0F172A"/>
                </a:solidFill>
              </a:defRPr>
            </a:pPr>
            <a:r>
              <a:rPr sz="1200" dirty="0">
                <a:solidFill>
                  <a:schemeClr val="tx1"/>
                </a:solidFill>
              </a:rPr>
              <a:t>📈</a:t>
            </a:r>
            <a:br>
              <a:rPr sz="1200" dirty="0">
                <a:solidFill>
                  <a:schemeClr val="tx1"/>
                </a:solidFill>
              </a:rPr>
            </a:br>
            <a:br>
              <a:rPr sz="1200" dirty="0">
                <a:solidFill>
                  <a:schemeClr val="tx1"/>
                </a:solidFill>
              </a:rPr>
            </a:br>
            <a:r>
              <a:rPr sz="1200" dirty="0">
                <a:solidFill>
                  <a:schemeClr val="tx1"/>
                </a:solidFill>
              </a:rPr>
              <a:t>Mandi Information Asymmetry</a:t>
            </a:r>
          </a:p>
          <a:p>
            <a:br>
              <a:rPr sz="1600" dirty="0">
                <a:solidFill>
                  <a:schemeClr val="tx1"/>
                </a:solidFill>
              </a:rPr>
            </a:br>
            <a:r>
              <a:rPr sz="1600" dirty="0">
                <a:solidFill>
                  <a:schemeClr val="tx1"/>
                </a:solidFill>
              </a:rPr>
              <a:t>Wholesale prices collapse unexpectedly after harvest; price differences across nearby APMCs are unknown to farmers.</a:t>
            </a:r>
          </a:p>
        </p:txBody>
      </p:sp>
      <p:sp>
        <p:nvSpPr>
          <p:cNvPr id="7" name="Rounded Rectangle 6"/>
          <p:cNvSpPr/>
          <p:nvPr/>
        </p:nvSpPr>
        <p:spPr>
          <a:xfrm>
            <a:off x="6181344" y="1920240"/>
            <a:ext cx="2560320" cy="3383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228600" rIns="182880" rtlCol="0" anchor="ctr"/>
          <a:lstStyle/>
          <a:p>
            <a:pPr algn="ctr">
              <a:defRPr sz="1400" b="1">
                <a:solidFill>
                  <a:srgbClr val="0F172A"/>
                </a:solidFill>
              </a:defRPr>
            </a:pPr>
            <a:r>
              <a:rPr sz="1200" dirty="0">
                <a:solidFill>
                  <a:schemeClr val="tx1"/>
                </a:solidFill>
              </a:rPr>
              <a:t>🌱</a:t>
            </a:r>
            <a:br>
              <a:rPr sz="1200" dirty="0">
                <a:solidFill>
                  <a:schemeClr val="tx1"/>
                </a:solidFill>
              </a:rPr>
            </a:br>
            <a:br>
              <a:rPr sz="1200" dirty="0">
                <a:solidFill>
                  <a:schemeClr val="tx1"/>
                </a:solidFill>
              </a:rPr>
            </a:br>
            <a:r>
              <a:rPr sz="1200" dirty="0">
                <a:solidFill>
                  <a:schemeClr val="tx1"/>
                </a:solidFill>
              </a:rPr>
              <a:t>Soil Exhaustion &amp; Guesswork</a:t>
            </a:r>
          </a:p>
          <a:p>
            <a:br>
              <a:rPr sz="1600" dirty="0">
                <a:solidFill>
                  <a:schemeClr val="tx1"/>
                </a:solidFill>
              </a:rPr>
            </a:br>
            <a:r>
              <a:rPr sz="1600" dirty="0">
                <a:solidFill>
                  <a:schemeClr val="tx1"/>
                </a:solidFill>
              </a:rPr>
              <a:t>Soil testing reports feature confusing scientific numbers (pH, NPK ppm); farmers guess crops by copying neighbors.</a:t>
            </a:r>
          </a:p>
        </p:txBody>
      </p:sp>
      <p:sp>
        <p:nvSpPr>
          <p:cNvPr id="8" name="Rounded Rectangle 7"/>
          <p:cNvSpPr/>
          <p:nvPr/>
        </p:nvSpPr>
        <p:spPr>
          <a:xfrm>
            <a:off x="8906256" y="1920240"/>
            <a:ext cx="2560320" cy="3383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228600" rIns="182880" rtlCol="0" anchor="ctr"/>
          <a:lstStyle/>
          <a:p>
            <a:pPr algn="ctr">
              <a:defRPr sz="1400" b="1">
                <a:solidFill>
                  <a:srgbClr val="0F172A"/>
                </a:solidFill>
              </a:defRPr>
            </a:pPr>
            <a:r>
              <a:rPr sz="1200" dirty="0">
                <a:solidFill>
                  <a:schemeClr val="tx1"/>
                </a:solidFill>
              </a:rPr>
              <a:t>🗣️</a:t>
            </a:r>
            <a:br>
              <a:rPr sz="1200" dirty="0">
                <a:solidFill>
                  <a:schemeClr val="tx1"/>
                </a:solidFill>
              </a:rPr>
            </a:br>
            <a:br>
              <a:rPr sz="1200" dirty="0">
                <a:solidFill>
                  <a:schemeClr val="tx1"/>
                </a:solidFill>
              </a:rPr>
            </a:br>
            <a:r>
              <a:rPr sz="1200" dirty="0">
                <a:solidFill>
                  <a:schemeClr val="tx1"/>
                </a:solidFill>
              </a:rPr>
              <a:t>Linguistic &amp; Digital Exclusion</a:t>
            </a:r>
          </a:p>
          <a:p>
            <a:br>
              <a:rPr sz="1600" dirty="0">
                <a:solidFill>
                  <a:schemeClr val="tx1"/>
                </a:solidFill>
              </a:rPr>
            </a:br>
            <a:r>
              <a:rPr sz="1600" dirty="0">
                <a:solidFill>
                  <a:schemeClr val="tx1"/>
                </a:solidFill>
              </a:rPr>
              <a:t>Existing portals are built in complex English with dense text and endless typing, alienating rural non-readers.</a:t>
            </a:r>
          </a:p>
        </p:txBody>
      </p:sp>
      <p:sp>
        <p:nvSpPr>
          <p:cNvPr id="9" name="Rounded Rectangle 8"/>
          <p:cNvSpPr/>
          <p:nvPr/>
        </p:nvSpPr>
        <p:spPr>
          <a:xfrm>
            <a:off x="731520" y="5577840"/>
            <a:ext cx="10725912" cy="594360"/>
          </a:xfrm>
          <a:prstGeom prst="roundRect">
            <a:avLst/>
          </a:prstGeom>
          <a:solidFill>
            <a:srgbClr val="ECFDF5"/>
          </a:solidFill>
          <a:ln>
            <a:solidFill>
              <a:srgbClr val="A7F3D0"/>
            </a:solidFill>
          </a:ln>
        </p:spPr>
        <p:style>
          <a:lnRef idx="1">
            <a:schemeClr val="accent1"/>
          </a:lnRef>
          <a:fillRef idx="3">
            <a:schemeClr val="accent1"/>
          </a:fillRef>
          <a:effectRef idx="2">
            <a:schemeClr val="accent1"/>
          </a:effectRef>
          <a:fontRef idx="minor">
            <a:schemeClr val="lt1"/>
          </a:fontRef>
        </p:style>
        <p:txBody>
          <a:bodyPr tIns="109728" rtlCol="0" anchor="ctr"/>
          <a:lstStyle/>
          <a:p>
            <a:pPr algn="ctr">
              <a:defRPr sz="1150" b="1">
                <a:solidFill>
                  <a:srgbClr val="059669"/>
                </a:solidFill>
              </a:defRPr>
            </a:pPr>
            <a:r>
              <a:rPr dirty="0"/>
              <a:t>🎯 AgriVision Dual Mission: Instant on-device camera disease diagnostics with exact 15L pump dosages, plus transparent multi-mandi price arbitrage.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457200"/>
            <a:ext cx="10698480" cy="365760"/>
          </a:xfrm>
          <a:prstGeom prst="rect">
            <a:avLst/>
          </a:prstGeom>
          <a:noFill/>
        </p:spPr>
        <p:txBody>
          <a:bodyPr wrap="square" lIns="0" tIns="0" rIns="0" bIns="0">
            <a:spAutoFit/>
          </a:bodyPr>
          <a:lstStyle/>
          <a:p>
            <a:pPr>
              <a:defRPr sz="1100" b="1">
                <a:solidFill>
                  <a:srgbClr val="059669"/>
                </a:solidFill>
              </a:defRPr>
            </a:pPr>
            <a:r>
              <a:rPr dirty="0"/>
              <a:t>AUDIENCE SCOPE</a:t>
            </a:r>
          </a:p>
        </p:txBody>
      </p:sp>
      <p:sp>
        <p:nvSpPr>
          <p:cNvPr id="3" name="TextBox 2"/>
          <p:cNvSpPr txBox="1"/>
          <p:nvPr/>
        </p:nvSpPr>
        <p:spPr>
          <a:xfrm>
            <a:off x="731520" y="777240"/>
            <a:ext cx="10698480" cy="548640"/>
          </a:xfrm>
          <a:prstGeom prst="rect">
            <a:avLst/>
          </a:prstGeom>
          <a:noFill/>
        </p:spPr>
        <p:txBody>
          <a:bodyPr wrap="square" lIns="0" tIns="0" rIns="0" bIns="0">
            <a:spAutoFit/>
          </a:bodyPr>
          <a:lstStyle/>
          <a:p>
            <a:pPr>
              <a:defRPr sz="2400" b="1">
                <a:solidFill>
                  <a:srgbClr val="0F172A"/>
                </a:solidFill>
              </a:defRPr>
            </a:pPr>
            <a:r>
              <a:rPr dirty="0"/>
              <a:t>Identification of Farmer User Groups</a:t>
            </a:r>
          </a:p>
        </p:txBody>
      </p:sp>
      <p:sp>
        <p:nvSpPr>
          <p:cNvPr id="4" name="TextBox 3"/>
          <p:cNvSpPr txBox="1"/>
          <p:nvPr/>
        </p:nvSpPr>
        <p:spPr>
          <a:xfrm>
            <a:off x="731520" y="1325880"/>
            <a:ext cx="10698480" cy="365760"/>
          </a:xfrm>
          <a:prstGeom prst="rect">
            <a:avLst/>
          </a:prstGeom>
          <a:noFill/>
        </p:spPr>
        <p:txBody>
          <a:bodyPr wrap="square" lIns="0" tIns="0" rIns="0" bIns="0">
            <a:spAutoFit/>
          </a:bodyPr>
          <a:lstStyle/>
          <a:p>
            <a:pPr>
              <a:defRPr sz="1200">
                <a:solidFill>
                  <a:srgbClr val="64748B"/>
                </a:solidFill>
              </a:defRPr>
            </a:pPr>
            <a:r>
              <a:rPr dirty="0"/>
              <a:t>Targeted solutions designed around the operational realities of Indian agriculture.</a:t>
            </a:r>
          </a:p>
        </p:txBody>
      </p:sp>
      <p:sp>
        <p:nvSpPr>
          <p:cNvPr id="5" name="Rounded Rectangle 4"/>
          <p:cNvSpPr/>
          <p:nvPr/>
        </p:nvSpPr>
        <p:spPr>
          <a:xfrm>
            <a:off x="731520" y="1920240"/>
            <a:ext cx="3474720" cy="34747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228600" tIns="228600" rIns="228600" rtlCol="0" anchor="ctr"/>
          <a:lstStyle/>
          <a:p>
            <a:pPr algn="ctr">
              <a:defRPr sz="950" b="1">
                <a:solidFill>
                  <a:srgbClr val="059669"/>
                </a:solidFill>
              </a:defRPr>
            </a:pPr>
            <a:r>
              <a:rPr sz="900" dirty="0">
                <a:solidFill>
                  <a:schemeClr val="tx1"/>
                </a:solidFill>
              </a:rPr>
              <a:t>Key need: 5-second camera diagnosis &amp; 15L pump dosages</a:t>
            </a:r>
          </a:p>
          <a:p>
            <a:br>
              <a:rPr sz="1600" dirty="0">
                <a:solidFill>
                  <a:schemeClr val="tx1"/>
                </a:solidFill>
              </a:rPr>
            </a:br>
            <a:r>
              <a:rPr sz="1600" dirty="0">
                <a:solidFill>
                  <a:schemeClr val="tx1"/>
                </a:solidFill>
              </a:rPr>
              <a:t>🍅 Smallholder Vegetable Growers</a:t>
            </a:r>
          </a:p>
          <a:p>
            <a:br>
              <a:rPr sz="1600" dirty="0">
                <a:solidFill>
                  <a:schemeClr val="tx1"/>
                </a:solidFill>
              </a:rPr>
            </a:br>
            <a:r>
              <a:rPr sz="1600" dirty="0">
                <a:solidFill>
                  <a:schemeClr val="tx1"/>
                </a:solidFill>
              </a:rPr>
              <a:t>Farmers cultivating high-risk, perishable cash crops (Tomato, Onion, Chilli). A single blight infection or sudden mandi crash can wipe out an entire season's livelihood.</a:t>
            </a:r>
          </a:p>
        </p:txBody>
      </p:sp>
      <p:sp>
        <p:nvSpPr>
          <p:cNvPr id="6" name="Rounded Rectangle 5"/>
          <p:cNvSpPr/>
          <p:nvPr/>
        </p:nvSpPr>
        <p:spPr>
          <a:xfrm>
            <a:off x="4389120" y="1920240"/>
            <a:ext cx="3474720" cy="34747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228600" tIns="228600" rIns="228600" rtlCol="0" anchor="ctr"/>
          <a:lstStyle/>
          <a:p>
            <a:pPr algn="ctr">
              <a:defRPr sz="950" b="1">
                <a:solidFill>
                  <a:srgbClr val="059669"/>
                </a:solidFill>
              </a:defRPr>
            </a:pPr>
            <a:r>
              <a:rPr sz="900" dirty="0">
                <a:solidFill>
                  <a:schemeClr val="tx1"/>
                </a:solidFill>
              </a:rPr>
              <a:t>Key need: Spoken Marathi/Hindi audio &amp; voice mic input</a:t>
            </a:r>
          </a:p>
          <a:p>
            <a:br>
              <a:rPr sz="1600" dirty="0">
                <a:solidFill>
                  <a:schemeClr val="tx1"/>
                </a:solidFill>
              </a:rPr>
            </a:br>
            <a:r>
              <a:rPr sz="1600" dirty="0">
                <a:solidFill>
                  <a:schemeClr val="tx1"/>
                </a:solidFill>
              </a:rPr>
              <a:t>👵 Low-Literacy &amp; Elder Farmers</a:t>
            </a:r>
          </a:p>
          <a:p>
            <a:br>
              <a:rPr sz="1600" dirty="0">
                <a:solidFill>
                  <a:schemeClr val="tx1"/>
                </a:solidFill>
              </a:rPr>
            </a:br>
            <a:r>
              <a:rPr sz="1600" dirty="0">
                <a:solidFill>
                  <a:schemeClr val="tx1"/>
                </a:solidFill>
              </a:rPr>
              <a:t>Older farmers (50+ yrs) with limited reading fluency, eyesight challenges, and working hands in outdoor sun who need spoken voice advice with zero on-screen typing.</a:t>
            </a:r>
          </a:p>
        </p:txBody>
      </p:sp>
      <p:sp>
        <p:nvSpPr>
          <p:cNvPr id="7" name="Rounded Rectangle 6"/>
          <p:cNvSpPr/>
          <p:nvPr/>
        </p:nvSpPr>
        <p:spPr>
          <a:xfrm>
            <a:off x="8046720" y="1920240"/>
            <a:ext cx="3474720" cy="34747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228600" tIns="228600" rIns="228600" rtlCol="0" anchor="ctr"/>
          <a:lstStyle/>
          <a:p>
            <a:pPr algn="ctr">
              <a:defRPr sz="950" b="1">
                <a:solidFill>
                  <a:srgbClr val="059669"/>
                </a:solidFill>
              </a:defRPr>
            </a:pPr>
            <a:r>
              <a:rPr sz="900" dirty="0">
                <a:solidFill>
                  <a:schemeClr val="tx1"/>
                </a:solidFill>
              </a:rPr>
              <a:t>Key need: 8 APMC price comparison &amp; 7-day trend forecasts</a:t>
            </a:r>
          </a:p>
          <a:p>
            <a:br>
              <a:rPr sz="1600" dirty="0">
                <a:solidFill>
                  <a:schemeClr val="tx1"/>
                </a:solidFill>
              </a:rPr>
            </a:br>
            <a:r>
              <a:rPr sz="1600" dirty="0">
                <a:solidFill>
                  <a:schemeClr val="tx1"/>
                </a:solidFill>
              </a:rPr>
              <a:t>🌾 Commercial Cash &amp; Grain Croppers</a:t>
            </a:r>
          </a:p>
          <a:p>
            <a:br>
              <a:rPr sz="1600" dirty="0">
                <a:solidFill>
                  <a:schemeClr val="tx1"/>
                </a:solidFill>
              </a:rPr>
            </a:br>
            <a:r>
              <a:rPr sz="1600" dirty="0">
                <a:solidFill>
                  <a:schemeClr val="tx1"/>
                </a:solidFill>
              </a:rPr>
              <a:t>Agile farmers growing Soybean, Wheat, Sugarcane, and Pomegranate who seek forward price momentum and inter-mandi price arbitrage to maximize market realization.</a:t>
            </a:r>
          </a:p>
        </p:txBody>
      </p:sp>
      <p:sp>
        <p:nvSpPr>
          <p:cNvPr id="8" name="TextBox 7"/>
          <p:cNvSpPr txBox="1"/>
          <p:nvPr/>
        </p:nvSpPr>
        <p:spPr>
          <a:xfrm>
            <a:off x="731520" y="5669280"/>
            <a:ext cx="10725912" cy="457200"/>
          </a:xfrm>
          <a:prstGeom prst="rect">
            <a:avLst/>
          </a:prstGeom>
          <a:noFill/>
        </p:spPr>
        <p:txBody>
          <a:bodyPr wrap="none">
            <a:spAutoFit/>
          </a:bodyPr>
          <a:lstStyle/>
          <a:p>
            <a:pPr>
              <a:defRPr sz="1200" b="1">
                <a:solidFill>
                  <a:srgbClr val="059669"/>
                </a:solidFill>
              </a:defRPr>
            </a:pPr>
            <a:r>
              <a:rPr dirty="0"/>
              <a:t>| Empowering over 140 million Indian smallholders and 15 million Maharashtra farming households.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457200"/>
            <a:ext cx="10698480" cy="365760"/>
          </a:xfrm>
          <a:prstGeom prst="rect">
            <a:avLst/>
          </a:prstGeom>
          <a:noFill/>
        </p:spPr>
        <p:txBody>
          <a:bodyPr wrap="square" lIns="0" tIns="0" rIns="0" bIns="0">
            <a:spAutoFit/>
          </a:bodyPr>
          <a:lstStyle/>
          <a:p>
            <a:pPr>
              <a:defRPr sz="1100" b="1">
                <a:solidFill>
                  <a:srgbClr val="059669"/>
                </a:solidFill>
              </a:defRPr>
            </a:pPr>
            <a:r>
              <a:rPr dirty="0"/>
              <a:t>DISCOVERY FRAMEWORK</a:t>
            </a:r>
          </a:p>
        </p:txBody>
      </p:sp>
      <p:sp>
        <p:nvSpPr>
          <p:cNvPr id="3" name="TextBox 2"/>
          <p:cNvSpPr txBox="1"/>
          <p:nvPr/>
        </p:nvSpPr>
        <p:spPr>
          <a:xfrm>
            <a:off x="731520" y="777240"/>
            <a:ext cx="10698480" cy="548640"/>
          </a:xfrm>
          <a:prstGeom prst="rect">
            <a:avLst/>
          </a:prstGeom>
          <a:noFill/>
        </p:spPr>
        <p:txBody>
          <a:bodyPr wrap="square" lIns="0" tIns="0" rIns="0" bIns="0">
            <a:spAutoFit/>
          </a:bodyPr>
          <a:lstStyle/>
          <a:p>
            <a:pPr>
              <a:defRPr sz="2400" b="1">
                <a:solidFill>
                  <a:srgbClr val="0F172A"/>
                </a:solidFill>
              </a:defRPr>
            </a:pPr>
            <a:r>
              <a:rPr dirty="0"/>
              <a:t>8-Point Field Study Questionnaire</a:t>
            </a:r>
          </a:p>
        </p:txBody>
      </p:sp>
      <p:sp>
        <p:nvSpPr>
          <p:cNvPr id="4" name="TextBox 3"/>
          <p:cNvSpPr txBox="1"/>
          <p:nvPr/>
        </p:nvSpPr>
        <p:spPr>
          <a:xfrm>
            <a:off x="731520" y="1325880"/>
            <a:ext cx="10698480" cy="365760"/>
          </a:xfrm>
          <a:prstGeom prst="rect">
            <a:avLst/>
          </a:prstGeom>
          <a:noFill/>
        </p:spPr>
        <p:txBody>
          <a:bodyPr wrap="square" lIns="0" tIns="0" rIns="0" bIns="0">
            <a:spAutoFit/>
          </a:bodyPr>
          <a:lstStyle/>
          <a:p>
            <a:pPr>
              <a:defRPr sz="1200">
                <a:solidFill>
                  <a:srgbClr val="64748B"/>
                </a:solidFill>
              </a:defRPr>
            </a:pPr>
            <a:r>
              <a:rPr dirty="0"/>
              <a:t>Administered across in-depth qualitative interview sessions with representative farmers across the Pune agricultural belt.</a:t>
            </a:r>
          </a:p>
        </p:txBody>
      </p:sp>
      <p:sp>
        <p:nvSpPr>
          <p:cNvPr id="5" name="Rounded Rectangle 4"/>
          <p:cNvSpPr/>
          <p:nvPr/>
        </p:nvSpPr>
        <p:spPr>
          <a:xfrm>
            <a:off x="731520" y="1828800"/>
            <a:ext cx="5212080" cy="868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109728" rtlCol="0" anchor="ctr"/>
          <a:lstStyle/>
          <a:p>
            <a:pPr algn="ctr">
              <a:defRPr sz="1100" b="1">
                <a:solidFill>
                  <a:srgbClr val="059669"/>
                </a:solidFill>
              </a:defRPr>
            </a:pPr>
            <a:r>
              <a:rPr dirty="0"/>
              <a:t>Q1: Annual Crop Loss Severity</a:t>
            </a:r>
          </a:p>
          <a:p>
            <a:pPr>
              <a:defRPr sz="950">
                <a:solidFill>
                  <a:srgbClr val="64748B"/>
                </a:solidFill>
              </a:defRPr>
            </a:pPr>
            <a:r>
              <a:rPr dirty="0"/>
              <a:t>How much yield is lost to pests and diseases?</a:t>
            </a:r>
            <a:br>
              <a:rPr dirty="0"/>
            </a:br>
            <a:r>
              <a:rPr dirty="0"/>
              <a:t>A) &gt;30% Severe  B) 15-30% Moderate  C) &lt;15% Mild</a:t>
            </a:r>
          </a:p>
        </p:txBody>
      </p:sp>
      <p:sp>
        <p:nvSpPr>
          <p:cNvPr id="6" name="Rounded Rectangle 5"/>
          <p:cNvSpPr/>
          <p:nvPr/>
        </p:nvSpPr>
        <p:spPr>
          <a:xfrm>
            <a:off x="731520" y="2788920"/>
            <a:ext cx="5212080" cy="868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109728" rtlCol="0" anchor="ctr"/>
          <a:lstStyle/>
          <a:p>
            <a:pPr algn="ctr">
              <a:defRPr sz="1100" b="1">
                <a:solidFill>
                  <a:srgbClr val="059669"/>
                </a:solidFill>
              </a:defRPr>
            </a:pPr>
            <a:r>
              <a:rPr dirty="0"/>
              <a:t>Q2: Disease Diagnostic Method</a:t>
            </a:r>
          </a:p>
          <a:p>
            <a:pPr>
              <a:defRPr sz="950">
                <a:solidFill>
                  <a:srgbClr val="64748B"/>
                </a:solidFill>
              </a:defRPr>
            </a:pPr>
            <a:r>
              <a:rPr dirty="0"/>
              <a:t>How do you currently diagnose leaf diseases?</a:t>
            </a:r>
            <a:br>
              <a:rPr dirty="0"/>
            </a:br>
            <a:r>
              <a:rPr dirty="0"/>
              <a:t>A) Chemical Shop  B) Ask Neighbor  C) Guess/Spray  D) Wait</a:t>
            </a:r>
          </a:p>
        </p:txBody>
      </p:sp>
      <p:sp>
        <p:nvSpPr>
          <p:cNvPr id="7" name="Rounded Rectangle 6"/>
          <p:cNvSpPr/>
          <p:nvPr/>
        </p:nvSpPr>
        <p:spPr>
          <a:xfrm>
            <a:off x="731520" y="3749039"/>
            <a:ext cx="5212080" cy="868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109728" rtlCol="0" anchor="ctr"/>
          <a:lstStyle/>
          <a:p>
            <a:pPr algn="ctr">
              <a:defRPr sz="1100" b="1">
                <a:solidFill>
                  <a:srgbClr val="059669"/>
                </a:solidFill>
              </a:defRPr>
            </a:pPr>
            <a:r>
              <a:rPr dirty="0"/>
              <a:t>Q3: Agrochemical Dealer Issues</a:t>
            </a:r>
          </a:p>
          <a:p>
            <a:pPr>
              <a:defRPr sz="950">
                <a:solidFill>
                  <a:srgbClr val="64748B"/>
                </a:solidFill>
              </a:defRPr>
            </a:pPr>
            <a:r>
              <a:rPr dirty="0"/>
              <a:t>What problems occur when buying pesticides?</a:t>
            </a:r>
            <a:br>
              <a:rPr dirty="0"/>
            </a:br>
            <a:r>
              <a:rPr dirty="0"/>
              <a:t>A) Expensive Bundling  B) Wrong Dosages  C) Low Quality</a:t>
            </a:r>
          </a:p>
        </p:txBody>
      </p:sp>
      <p:sp>
        <p:nvSpPr>
          <p:cNvPr id="8" name="Rounded Rectangle 7"/>
          <p:cNvSpPr/>
          <p:nvPr/>
        </p:nvSpPr>
        <p:spPr>
          <a:xfrm>
            <a:off x="731520" y="4709160"/>
            <a:ext cx="5212080" cy="868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109728" rtlCol="0" anchor="ctr"/>
          <a:lstStyle/>
          <a:p>
            <a:pPr algn="ctr">
              <a:defRPr sz="1100" b="1">
                <a:solidFill>
                  <a:srgbClr val="059669"/>
                </a:solidFill>
              </a:defRPr>
            </a:pPr>
            <a:r>
              <a:rPr dirty="0"/>
              <a:t>Q4: Camera AI Willingness</a:t>
            </a:r>
          </a:p>
          <a:p>
            <a:pPr>
              <a:defRPr sz="950">
                <a:solidFill>
                  <a:srgbClr val="64748B"/>
                </a:solidFill>
              </a:defRPr>
            </a:pPr>
            <a:r>
              <a:rPr dirty="0"/>
              <a:t>Would you use an app that diagnoses from leaf photos?</a:t>
            </a:r>
            <a:br>
              <a:rPr dirty="0"/>
            </a:br>
            <a:r>
              <a:rPr dirty="0"/>
              <a:t>A) Yes Definitely  B) Yes in Marathi  C) Maybe with training</a:t>
            </a:r>
          </a:p>
        </p:txBody>
      </p:sp>
      <p:sp>
        <p:nvSpPr>
          <p:cNvPr id="9" name="Rounded Rectangle 8"/>
          <p:cNvSpPr/>
          <p:nvPr/>
        </p:nvSpPr>
        <p:spPr>
          <a:xfrm>
            <a:off x="6217920" y="1828800"/>
            <a:ext cx="5212080" cy="868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109728" rtlCol="0" anchor="ctr"/>
          <a:lstStyle/>
          <a:p>
            <a:pPr algn="ctr">
              <a:defRPr sz="1100" b="1">
                <a:solidFill>
                  <a:srgbClr val="059669"/>
                </a:solidFill>
              </a:defRPr>
            </a:pPr>
            <a:r>
              <a:rPr dirty="0"/>
              <a:t>Q5: Daily Price Discovery Channel</a:t>
            </a:r>
          </a:p>
          <a:p>
            <a:pPr>
              <a:defRPr sz="950">
                <a:solidFill>
                  <a:srgbClr val="64748B"/>
                </a:solidFill>
              </a:defRPr>
            </a:pPr>
            <a:r>
              <a:rPr dirty="0"/>
              <a:t>How do you currently check mandi rates before harvest?</a:t>
            </a:r>
            <a:br>
              <a:rPr dirty="0"/>
            </a:br>
            <a:r>
              <a:rPr dirty="0"/>
              <a:t>A) Middlemen/Agents  B) Word of mouth  C) Delayed news</a:t>
            </a:r>
          </a:p>
        </p:txBody>
      </p:sp>
      <p:sp>
        <p:nvSpPr>
          <p:cNvPr id="10" name="Rounded Rectangle 9"/>
          <p:cNvSpPr/>
          <p:nvPr/>
        </p:nvSpPr>
        <p:spPr>
          <a:xfrm>
            <a:off x="6217920" y="2788920"/>
            <a:ext cx="5212080" cy="868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109728" rtlCol="0" anchor="ctr"/>
          <a:lstStyle/>
          <a:p>
            <a:pPr algn="ctr">
              <a:defRPr sz="1100" b="1">
                <a:solidFill>
                  <a:srgbClr val="059669"/>
                </a:solidFill>
              </a:defRPr>
            </a:pPr>
            <a:r>
              <a:rPr dirty="0"/>
              <a:t>Q6: Mandi Selling Frustrations</a:t>
            </a:r>
          </a:p>
          <a:p>
            <a:pPr>
              <a:defRPr sz="950">
                <a:solidFill>
                  <a:srgbClr val="64748B"/>
                </a:solidFill>
              </a:defRPr>
            </a:pPr>
            <a:r>
              <a:rPr dirty="0"/>
              <a:t>What is your biggest pain in agricultural mandis?</a:t>
            </a:r>
            <a:br>
              <a:rPr dirty="0"/>
            </a:br>
            <a:r>
              <a:rPr dirty="0"/>
              <a:t>A) Sudden price drop  B) Weighment cuts  C) Unknown spreads</a:t>
            </a:r>
          </a:p>
        </p:txBody>
      </p:sp>
      <p:sp>
        <p:nvSpPr>
          <p:cNvPr id="11" name="Rounded Rectangle 10"/>
          <p:cNvSpPr/>
          <p:nvPr/>
        </p:nvSpPr>
        <p:spPr>
          <a:xfrm>
            <a:off x="6217920" y="3749039"/>
            <a:ext cx="5212080" cy="868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109728" rtlCol="0" anchor="ctr"/>
          <a:lstStyle/>
          <a:p>
            <a:pPr algn="ctr">
              <a:defRPr sz="1100" b="1">
                <a:solidFill>
                  <a:srgbClr val="059669"/>
                </a:solidFill>
              </a:defRPr>
            </a:pPr>
            <a:r>
              <a:rPr dirty="0"/>
              <a:t>Q7: Forward Price Forecast Value</a:t>
            </a:r>
          </a:p>
          <a:p>
            <a:pPr>
              <a:defRPr sz="950">
                <a:solidFill>
                  <a:srgbClr val="64748B"/>
                </a:solidFill>
              </a:defRPr>
            </a:pPr>
            <a:r>
              <a:rPr dirty="0"/>
              <a:t>Would a 7-day price forecast and multi-mandi matrix help?</a:t>
            </a:r>
            <a:br>
              <a:rPr dirty="0"/>
            </a:br>
            <a:r>
              <a:rPr dirty="0"/>
              <a:t>A) Extremely Helpful  B) Somewhat Helpful  C) Not helpful</a:t>
            </a:r>
          </a:p>
        </p:txBody>
      </p:sp>
      <p:sp>
        <p:nvSpPr>
          <p:cNvPr id="12" name="Rounded Rectangle 11"/>
          <p:cNvSpPr/>
          <p:nvPr/>
        </p:nvSpPr>
        <p:spPr>
          <a:xfrm>
            <a:off x="6217920" y="4709160"/>
            <a:ext cx="5212080" cy="868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109728" rtlCol="0" anchor="ctr"/>
          <a:lstStyle/>
          <a:p>
            <a:pPr algn="ctr">
              <a:defRPr sz="1100" b="1">
                <a:solidFill>
                  <a:srgbClr val="059669"/>
                </a:solidFill>
              </a:defRPr>
            </a:pPr>
            <a:r>
              <a:rPr dirty="0"/>
              <a:t>Q8: Preferred Technology Medium</a:t>
            </a:r>
          </a:p>
          <a:p>
            <a:pPr>
              <a:defRPr sz="950">
                <a:solidFill>
                  <a:srgbClr val="64748B"/>
                </a:solidFill>
              </a:defRPr>
            </a:pPr>
            <a:r>
              <a:rPr dirty="0"/>
              <a:t>What is the easiest way to receive advice on your phone?</a:t>
            </a:r>
            <a:br>
              <a:rPr dirty="0"/>
            </a:br>
            <a:r>
              <a:rPr dirty="0"/>
              <a:t>A) Spoken Marathi Audio  B) Voice Mic Input  C) Simple Text</a:t>
            </a:r>
          </a:p>
        </p:txBody>
      </p:sp>
      <p:sp>
        <p:nvSpPr>
          <p:cNvPr id="13" name="TextBox 12"/>
          <p:cNvSpPr txBox="1"/>
          <p:nvPr/>
        </p:nvSpPr>
        <p:spPr>
          <a:xfrm>
            <a:off x="731520" y="5760720"/>
            <a:ext cx="10698480" cy="365760"/>
          </a:xfrm>
          <a:prstGeom prst="rect">
            <a:avLst/>
          </a:prstGeom>
          <a:noFill/>
        </p:spPr>
        <p:txBody>
          <a:bodyPr wrap="none">
            <a:spAutoFit/>
          </a:bodyPr>
          <a:lstStyle/>
          <a:p>
            <a:pPr>
              <a:defRPr sz="1000">
                <a:solidFill>
                  <a:srgbClr val="64748B"/>
                </a:solidFill>
              </a:defRPr>
            </a:pPr>
            <a:r>
              <a:rPr dirty="0"/>
              <a:t>Survey Dataset Available: c:/CODING/AgriVision/Farmer_Problem_Survey_Questionnaire_Trilingual.docx</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457200"/>
            <a:ext cx="10698480" cy="365760"/>
          </a:xfrm>
          <a:prstGeom prst="rect">
            <a:avLst/>
          </a:prstGeom>
          <a:noFill/>
        </p:spPr>
        <p:txBody>
          <a:bodyPr wrap="square" lIns="0" tIns="0" rIns="0" bIns="0">
            <a:spAutoFit/>
          </a:bodyPr>
          <a:lstStyle/>
          <a:p>
            <a:pPr>
              <a:defRPr sz="1100" b="1">
                <a:solidFill>
                  <a:srgbClr val="059669"/>
                </a:solidFill>
              </a:defRPr>
            </a:pPr>
            <a:r>
              <a:rPr dirty="0"/>
              <a:t>FIELD INTERVIEWS • PART 1</a:t>
            </a:r>
          </a:p>
        </p:txBody>
      </p:sp>
      <p:sp>
        <p:nvSpPr>
          <p:cNvPr id="3" name="TextBox 2"/>
          <p:cNvSpPr txBox="1"/>
          <p:nvPr/>
        </p:nvSpPr>
        <p:spPr>
          <a:xfrm>
            <a:off x="731520" y="777240"/>
            <a:ext cx="10698480" cy="548640"/>
          </a:xfrm>
          <a:prstGeom prst="rect">
            <a:avLst/>
          </a:prstGeom>
          <a:noFill/>
        </p:spPr>
        <p:txBody>
          <a:bodyPr wrap="square" lIns="0" tIns="0" rIns="0" bIns="0">
            <a:spAutoFit/>
          </a:bodyPr>
          <a:lstStyle/>
          <a:p>
            <a:pPr>
              <a:defRPr sz="2400" b="1">
                <a:solidFill>
                  <a:srgbClr val="0F172A"/>
                </a:solidFill>
              </a:defRPr>
            </a:pPr>
            <a:r>
              <a:rPr dirty="0"/>
              <a:t>Interviews 01 &amp; 02: Chemical Bundling &amp; Reading Barriers</a:t>
            </a:r>
          </a:p>
        </p:txBody>
      </p:sp>
      <p:sp>
        <p:nvSpPr>
          <p:cNvPr id="4" name="TextBox 3"/>
          <p:cNvSpPr txBox="1"/>
          <p:nvPr/>
        </p:nvSpPr>
        <p:spPr>
          <a:xfrm>
            <a:off x="731520" y="1325880"/>
            <a:ext cx="10698480" cy="365760"/>
          </a:xfrm>
          <a:prstGeom prst="rect">
            <a:avLst/>
          </a:prstGeom>
          <a:noFill/>
        </p:spPr>
        <p:txBody>
          <a:bodyPr wrap="square" lIns="0" tIns="0" rIns="0" bIns="0">
            <a:spAutoFit/>
          </a:bodyPr>
          <a:lstStyle/>
          <a:p>
            <a:pPr>
              <a:defRPr sz="1200">
                <a:solidFill>
                  <a:srgbClr val="64748B"/>
                </a:solidFill>
              </a:defRPr>
            </a:pPr>
            <a:r>
              <a:rPr dirty="0"/>
              <a:t>Qualitative transcripts and ground-truth validation from active farming communities.</a:t>
            </a:r>
          </a:p>
        </p:txBody>
      </p:sp>
      <p:sp>
        <p:nvSpPr>
          <p:cNvPr id="5" name="Rounded Rectangle 4"/>
          <p:cNvSpPr/>
          <p:nvPr/>
        </p:nvSpPr>
        <p:spPr>
          <a:xfrm>
            <a:off x="731520" y="1828800"/>
            <a:ext cx="5257800" cy="4297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228600" tIns="182880" rIns="228600" rtlCol="0" anchor="ctr"/>
          <a:lstStyle/>
          <a:p>
            <a:pPr algn="ctr">
              <a:defRPr sz="1300" b="1">
                <a:solidFill>
                  <a:srgbClr val="0F172A"/>
                </a:solidFill>
              </a:defRPr>
            </a:pPr>
            <a:r>
              <a:rPr dirty="0"/>
              <a:t>Dnyaneshwar Shinde (Age 42)</a:t>
            </a:r>
            <a:br>
              <a:rPr dirty="0"/>
            </a:br>
            <a:r>
              <a:rPr dirty="0"/>
              <a:t>Smallholder Vegetable Farmer • Na</a:t>
            </a:r>
            <a:r>
              <a:rPr lang="en-IN" dirty="0" err="1"/>
              <a:t>noli</a:t>
            </a:r>
            <a:r>
              <a:rPr lang="en-IN" dirty="0"/>
              <a:t>, Pune</a:t>
            </a:r>
            <a:endParaRPr dirty="0"/>
          </a:p>
          <a:p>
            <a:br>
              <a:rPr dirty="0"/>
            </a:br>
            <a:r>
              <a:rPr dirty="0"/>
              <a:t>Profile: 1.8 Acres • Well &amp; Drip • Hybrid Tomato &amp; Red Onion</a:t>
            </a:r>
          </a:p>
          <a:p>
            <a:pPr>
              <a:defRPr sz="1000">
                <a:solidFill>
                  <a:srgbClr val="0F172A"/>
                </a:solidFill>
              </a:defRPr>
            </a:pPr>
            <a:r>
              <a:rPr dirty="0"/>
              <a:t>Answers: "When blight struck my tomatoes, the </a:t>
            </a:r>
            <a:r>
              <a:rPr dirty="0" err="1"/>
              <a:t>agro</a:t>
            </a:r>
            <a:r>
              <a:rPr dirty="0"/>
              <a:t>-dealer sold me ₹2,800 of three bundled chemicals. After spraying, leaves burned and flowers fell off. We lose over 30% harvest every year to wrong spraying."</a:t>
            </a:r>
          </a:p>
          <a:p>
            <a:br>
              <a:rPr dirty="0"/>
            </a:br>
            <a:r>
              <a:rPr dirty="0"/>
              <a:t>Suggestion: "Give us a tool where taking a photo tells the exact disease and milliliters per 15-liter pump in Marathi so we don't get tricked by shops."</a:t>
            </a:r>
          </a:p>
        </p:txBody>
      </p:sp>
      <p:sp>
        <p:nvSpPr>
          <p:cNvPr id="6" name="Rounded Rectangle 5"/>
          <p:cNvSpPr/>
          <p:nvPr/>
        </p:nvSpPr>
        <p:spPr>
          <a:xfrm>
            <a:off x="6172200" y="1828800"/>
            <a:ext cx="5257800" cy="4297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228600" tIns="182880" rIns="228600" rtlCol="0" anchor="ctr"/>
          <a:lstStyle/>
          <a:p>
            <a:pPr algn="ctr">
              <a:defRPr sz="1300" b="1">
                <a:solidFill>
                  <a:srgbClr val="0F172A"/>
                </a:solidFill>
              </a:defRPr>
            </a:pPr>
            <a:r>
              <a:rPr dirty="0" err="1"/>
              <a:t>Kashibai</a:t>
            </a:r>
            <a:r>
              <a:rPr dirty="0"/>
              <a:t> Gadekar (Age 58)</a:t>
            </a:r>
            <a:br>
              <a:rPr dirty="0"/>
            </a:br>
            <a:r>
              <a:rPr dirty="0"/>
              <a:t>Marginal Dryland Farmer • </a:t>
            </a:r>
            <a:r>
              <a:rPr lang="en-IN" dirty="0" err="1"/>
              <a:t>Nanoli</a:t>
            </a:r>
            <a:r>
              <a:rPr lang="en-IN" dirty="0"/>
              <a:t>, Pune</a:t>
            </a:r>
            <a:endParaRPr dirty="0"/>
          </a:p>
          <a:p>
            <a:br>
              <a:rPr dirty="0"/>
            </a:br>
            <a:r>
              <a:rPr dirty="0"/>
              <a:t>Profile: 0.8 Acre • Rainfed Highlands • Bajra &amp; Custard Apple</a:t>
            </a:r>
          </a:p>
          <a:p>
            <a:pPr>
              <a:defRPr sz="1000">
                <a:solidFill>
                  <a:srgbClr val="0F172A"/>
                </a:solidFill>
              </a:defRPr>
            </a:pPr>
            <a:r>
              <a:rPr dirty="0"/>
              <a:t>Answers: "</a:t>
            </a:r>
            <a:r>
              <a:rPr dirty="0" err="1"/>
              <a:t>मला</a:t>
            </a:r>
            <a:r>
              <a:rPr dirty="0"/>
              <a:t> </a:t>
            </a:r>
            <a:r>
              <a:rPr dirty="0" err="1"/>
              <a:t>लिहिता-वाचता</a:t>
            </a:r>
            <a:r>
              <a:rPr dirty="0"/>
              <a:t> </a:t>
            </a:r>
            <a:r>
              <a:rPr dirty="0" err="1"/>
              <a:t>येत</a:t>
            </a:r>
            <a:r>
              <a:rPr dirty="0"/>
              <a:t> </a:t>
            </a:r>
            <a:r>
              <a:rPr dirty="0" err="1"/>
              <a:t>नाही</a:t>
            </a:r>
            <a:r>
              <a:rPr dirty="0"/>
              <a:t>. </a:t>
            </a:r>
            <a:r>
              <a:rPr dirty="0" err="1"/>
              <a:t>इंग्रजी</a:t>
            </a:r>
            <a:r>
              <a:rPr dirty="0"/>
              <a:t> </a:t>
            </a:r>
            <a:r>
              <a:rPr dirty="0" err="1"/>
              <a:t>मुळीच</a:t>
            </a:r>
            <a:r>
              <a:rPr dirty="0"/>
              <a:t> </a:t>
            </a:r>
            <a:r>
              <a:rPr dirty="0" err="1"/>
              <a:t>समजत</a:t>
            </a:r>
            <a:r>
              <a:rPr dirty="0"/>
              <a:t> </a:t>
            </a:r>
            <a:r>
              <a:rPr dirty="0" err="1"/>
              <a:t>नाही</a:t>
            </a:r>
            <a:r>
              <a:rPr dirty="0"/>
              <a:t>. </a:t>
            </a:r>
            <a:r>
              <a:rPr dirty="0" err="1"/>
              <a:t>दुकानात</a:t>
            </a:r>
            <a:r>
              <a:rPr dirty="0"/>
              <a:t> </a:t>
            </a:r>
            <a:r>
              <a:rPr dirty="0" err="1"/>
              <a:t>गेलो</a:t>
            </a:r>
            <a:r>
              <a:rPr dirty="0"/>
              <a:t> </a:t>
            </a:r>
            <a:r>
              <a:rPr dirty="0" err="1"/>
              <a:t>की</a:t>
            </a:r>
            <a:r>
              <a:rPr dirty="0"/>
              <a:t> </a:t>
            </a:r>
            <a:r>
              <a:rPr dirty="0" err="1"/>
              <a:t>दुकानदार</a:t>
            </a:r>
            <a:r>
              <a:rPr dirty="0"/>
              <a:t> </a:t>
            </a:r>
            <a:r>
              <a:rPr dirty="0" err="1"/>
              <a:t>इंग्रजी</a:t>
            </a:r>
            <a:r>
              <a:rPr dirty="0"/>
              <a:t> </a:t>
            </a:r>
            <a:r>
              <a:rPr dirty="0" err="1"/>
              <a:t>बाटल्या</a:t>
            </a:r>
            <a:r>
              <a:rPr dirty="0"/>
              <a:t> </a:t>
            </a:r>
            <a:r>
              <a:rPr dirty="0" err="1"/>
              <a:t>पुढे</a:t>
            </a:r>
            <a:r>
              <a:rPr dirty="0"/>
              <a:t> </a:t>
            </a:r>
            <a:r>
              <a:rPr dirty="0" err="1"/>
              <a:t>करतो</a:t>
            </a:r>
            <a:r>
              <a:rPr dirty="0"/>
              <a:t>. (I cannot read or write. Dealers push English bottles we cannot decode. Middlemen take huge cuts.)"</a:t>
            </a:r>
          </a:p>
          <a:p>
            <a:br>
              <a:rPr dirty="0"/>
            </a:br>
            <a:r>
              <a:rPr dirty="0"/>
              <a:t>Suggestion: "Please build a system that speaks aloud in Marathi. If the phone talks to me, an illiterate elder like me can farm without begging others for help."</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457200"/>
            <a:ext cx="10698480" cy="365760"/>
          </a:xfrm>
          <a:prstGeom prst="rect">
            <a:avLst/>
          </a:prstGeom>
          <a:noFill/>
        </p:spPr>
        <p:txBody>
          <a:bodyPr wrap="square" lIns="0" tIns="0" rIns="0" bIns="0">
            <a:spAutoFit/>
          </a:bodyPr>
          <a:lstStyle/>
          <a:p>
            <a:pPr>
              <a:defRPr sz="1100" b="1">
                <a:solidFill>
                  <a:srgbClr val="059669"/>
                </a:solidFill>
              </a:defRPr>
            </a:pPr>
            <a:r>
              <a:rPr dirty="0"/>
              <a:t>FIELD INTERVIEWS • PART 2</a:t>
            </a:r>
          </a:p>
        </p:txBody>
      </p:sp>
      <p:sp>
        <p:nvSpPr>
          <p:cNvPr id="3" name="TextBox 2"/>
          <p:cNvSpPr txBox="1"/>
          <p:nvPr/>
        </p:nvSpPr>
        <p:spPr>
          <a:xfrm>
            <a:off x="731520" y="777240"/>
            <a:ext cx="10698480" cy="548640"/>
          </a:xfrm>
          <a:prstGeom prst="rect">
            <a:avLst/>
          </a:prstGeom>
          <a:noFill/>
        </p:spPr>
        <p:txBody>
          <a:bodyPr wrap="square" lIns="0" tIns="0" rIns="0" bIns="0">
            <a:spAutoFit/>
          </a:bodyPr>
          <a:lstStyle/>
          <a:p>
            <a:pPr>
              <a:defRPr sz="2400" b="1">
                <a:solidFill>
                  <a:srgbClr val="0F172A"/>
                </a:solidFill>
              </a:defRPr>
            </a:pPr>
            <a:r>
              <a:rPr dirty="0"/>
              <a:t>Interviews 03 &amp; 04: Soil Exhaustion &amp; Mandi Price Spreads</a:t>
            </a:r>
          </a:p>
        </p:txBody>
      </p:sp>
      <p:sp>
        <p:nvSpPr>
          <p:cNvPr id="4" name="TextBox 3"/>
          <p:cNvSpPr txBox="1"/>
          <p:nvPr/>
        </p:nvSpPr>
        <p:spPr>
          <a:xfrm>
            <a:off x="731520" y="1325880"/>
            <a:ext cx="10698480" cy="365760"/>
          </a:xfrm>
          <a:prstGeom prst="rect">
            <a:avLst/>
          </a:prstGeom>
          <a:noFill/>
        </p:spPr>
        <p:txBody>
          <a:bodyPr wrap="square" lIns="0" tIns="0" rIns="0" bIns="0">
            <a:spAutoFit/>
          </a:bodyPr>
          <a:lstStyle/>
          <a:p>
            <a:pPr>
              <a:defRPr sz="1200">
                <a:solidFill>
                  <a:srgbClr val="64748B"/>
                </a:solidFill>
              </a:defRPr>
            </a:pPr>
            <a:r>
              <a:rPr dirty="0"/>
              <a:t>Qualitative transcripts and ground-truth validation from active farming communities.</a:t>
            </a:r>
          </a:p>
        </p:txBody>
      </p:sp>
      <p:sp>
        <p:nvSpPr>
          <p:cNvPr id="5" name="Rounded Rectangle 4"/>
          <p:cNvSpPr/>
          <p:nvPr/>
        </p:nvSpPr>
        <p:spPr>
          <a:xfrm>
            <a:off x="731520" y="1828800"/>
            <a:ext cx="5257800" cy="4297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228600" tIns="182880" rIns="228600" rtlCol="0" anchor="ctr"/>
          <a:lstStyle/>
          <a:p>
            <a:pPr algn="ctr">
              <a:defRPr sz="1300" b="1">
                <a:solidFill>
                  <a:srgbClr val="0F172A"/>
                </a:solidFill>
              </a:defRPr>
            </a:pPr>
            <a:r>
              <a:rPr dirty="0" err="1"/>
              <a:t>Babanrao</a:t>
            </a:r>
            <a:r>
              <a:rPr dirty="0"/>
              <a:t> Patil (Age 51)</a:t>
            </a:r>
            <a:br>
              <a:rPr dirty="0"/>
            </a:br>
            <a:r>
              <a:rPr dirty="0"/>
              <a:t>Commercial Cash Cropper • </a:t>
            </a:r>
            <a:r>
              <a:rPr lang="en-IN" dirty="0"/>
              <a:t>Bhilwara</a:t>
            </a:r>
            <a:endParaRPr dirty="0"/>
          </a:p>
          <a:p>
            <a:br>
              <a:rPr dirty="0"/>
            </a:br>
            <a:r>
              <a:rPr dirty="0"/>
              <a:t>Profile: 6.5 Acres • Canal &amp; Well • Sugarcane &amp; Soybean</a:t>
            </a:r>
          </a:p>
          <a:p>
            <a:pPr>
              <a:defRPr sz="1000">
                <a:solidFill>
                  <a:srgbClr val="0F172A"/>
                </a:solidFill>
              </a:defRPr>
            </a:pPr>
            <a:r>
              <a:rPr dirty="0"/>
              <a:t>Answers: "Our soil is getting tired from repeated Urea and DAP dumping. Soil test labs are 25 km away and their reports take 3 weeks with confusing scientific numbers that don't explain how many bags of Potash to add."</a:t>
            </a:r>
          </a:p>
          <a:p>
            <a:br>
              <a:rPr dirty="0"/>
            </a:br>
            <a:r>
              <a:rPr dirty="0"/>
              <a:t>Suggestion: "Give us an easy soil guidance calculator based on our soil type (Black/Red) that tells us which crop produces maximum quintals per acre."</a:t>
            </a:r>
          </a:p>
        </p:txBody>
      </p:sp>
      <p:sp>
        <p:nvSpPr>
          <p:cNvPr id="6" name="Rounded Rectangle 5"/>
          <p:cNvSpPr/>
          <p:nvPr/>
        </p:nvSpPr>
        <p:spPr>
          <a:xfrm>
            <a:off x="6172200" y="1828800"/>
            <a:ext cx="5257800" cy="4297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228600" tIns="182880" rIns="228600" rtlCol="0" anchor="ctr"/>
          <a:lstStyle/>
          <a:p>
            <a:pPr algn="ctr">
              <a:defRPr sz="1300" b="1">
                <a:solidFill>
                  <a:srgbClr val="0F172A"/>
                </a:solidFill>
              </a:defRPr>
            </a:pPr>
            <a:r>
              <a:rPr dirty="0"/>
              <a:t>Sachin Kadam (Age 32)</a:t>
            </a:r>
            <a:br>
              <a:rPr dirty="0"/>
            </a:br>
            <a:r>
              <a:rPr dirty="0"/>
              <a:t>Progressive Market Farmer • Chakan</a:t>
            </a:r>
          </a:p>
          <a:p>
            <a:br>
              <a:rPr dirty="0"/>
            </a:br>
            <a:r>
              <a:rPr dirty="0"/>
              <a:t>Profile: 3.2 Acres • Well &amp; Drip • Red Onion &amp; Capsicum</a:t>
            </a:r>
          </a:p>
          <a:p>
            <a:pPr>
              <a:defRPr sz="1000">
                <a:solidFill>
                  <a:srgbClr val="0F172A"/>
                </a:solidFill>
              </a:defRPr>
            </a:pPr>
            <a:r>
              <a:rPr dirty="0"/>
              <a:t>Answers: "Often Chakan APMC trades onions at ₹2,100 while </a:t>
            </a:r>
            <a:r>
              <a:rPr dirty="0" err="1"/>
              <a:t>Narayangaon</a:t>
            </a:r>
            <a:r>
              <a:rPr dirty="0"/>
              <a:t> is at ₹2,400. By the time we discover this, our pickup truck is already unloaded at Chakan and it is too late to move."</a:t>
            </a:r>
          </a:p>
          <a:p>
            <a:br>
              <a:rPr dirty="0"/>
            </a:br>
            <a:r>
              <a:rPr dirty="0"/>
              <a:t>Suggestion: "Show live prices of all 8 Pune district mandis and 7-day price trend forecasts on one screen at 8 AM so we can capture higher profits."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457200"/>
            <a:ext cx="10698480" cy="365760"/>
          </a:xfrm>
          <a:prstGeom prst="rect">
            <a:avLst/>
          </a:prstGeom>
          <a:noFill/>
        </p:spPr>
        <p:txBody>
          <a:bodyPr wrap="square" lIns="0" tIns="0" rIns="0" bIns="0">
            <a:spAutoFit/>
          </a:bodyPr>
          <a:lstStyle/>
          <a:p>
            <a:pPr>
              <a:defRPr sz="1100" b="1">
                <a:solidFill>
                  <a:srgbClr val="059669"/>
                </a:solidFill>
              </a:defRPr>
            </a:pPr>
            <a:r>
              <a:rPr dirty="0"/>
              <a:t>FIELD INTERVIEWS • PART 3</a:t>
            </a:r>
          </a:p>
        </p:txBody>
      </p:sp>
      <p:sp>
        <p:nvSpPr>
          <p:cNvPr id="3" name="TextBox 2"/>
          <p:cNvSpPr txBox="1"/>
          <p:nvPr/>
        </p:nvSpPr>
        <p:spPr>
          <a:xfrm>
            <a:off x="731520" y="777240"/>
            <a:ext cx="10698480" cy="548640"/>
          </a:xfrm>
          <a:prstGeom prst="rect">
            <a:avLst/>
          </a:prstGeom>
          <a:noFill/>
        </p:spPr>
        <p:txBody>
          <a:bodyPr wrap="square" lIns="0" tIns="0" rIns="0" bIns="0">
            <a:spAutoFit/>
          </a:bodyPr>
          <a:lstStyle/>
          <a:p>
            <a:pPr>
              <a:defRPr sz="2400" b="1">
                <a:solidFill>
                  <a:srgbClr val="0F172A"/>
                </a:solidFill>
              </a:defRPr>
            </a:pPr>
            <a:r>
              <a:rPr dirty="0"/>
              <a:t>Interviews 05 &amp; 06: Voice Interaction &amp; Spray Timing</a:t>
            </a:r>
          </a:p>
        </p:txBody>
      </p:sp>
      <p:sp>
        <p:nvSpPr>
          <p:cNvPr id="4" name="TextBox 3"/>
          <p:cNvSpPr txBox="1"/>
          <p:nvPr/>
        </p:nvSpPr>
        <p:spPr>
          <a:xfrm>
            <a:off x="731520" y="1325880"/>
            <a:ext cx="10698480" cy="365760"/>
          </a:xfrm>
          <a:prstGeom prst="rect">
            <a:avLst/>
          </a:prstGeom>
          <a:noFill/>
        </p:spPr>
        <p:txBody>
          <a:bodyPr wrap="square" lIns="0" tIns="0" rIns="0" bIns="0">
            <a:spAutoFit/>
          </a:bodyPr>
          <a:lstStyle/>
          <a:p>
            <a:pPr>
              <a:defRPr sz="1200">
                <a:solidFill>
                  <a:srgbClr val="64748B"/>
                </a:solidFill>
              </a:defRPr>
            </a:pPr>
            <a:r>
              <a:rPr dirty="0"/>
              <a:t>Qualitative transcripts and ground-truth validation from active farming communities.</a:t>
            </a:r>
          </a:p>
        </p:txBody>
      </p:sp>
      <p:sp>
        <p:nvSpPr>
          <p:cNvPr id="5" name="Rounded Rectangle 4"/>
          <p:cNvSpPr/>
          <p:nvPr/>
        </p:nvSpPr>
        <p:spPr>
          <a:xfrm>
            <a:off x="731520" y="1828800"/>
            <a:ext cx="5257800" cy="4297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228600" tIns="182880" rIns="228600" rtlCol="0" anchor="ctr"/>
          <a:lstStyle/>
          <a:p>
            <a:pPr algn="ctr">
              <a:defRPr sz="1300" b="1">
                <a:solidFill>
                  <a:srgbClr val="0F172A"/>
                </a:solidFill>
              </a:defRPr>
            </a:pPr>
            <a:r>
              <a:rPr dirty="0"/>
              <a:t>Pandurang More (Age 62)</a:t>
            </a:r>
            <a:br>
              <a:rPr dirty="0"/>
            </a:br>
            <a:r>
              <a:rPr dirty="0"/>
              <a:t>Elderly Dryland Farmer • </a:t>
            </a:r>
            <a:r>
              <a:rPr lang="en-IN" dirty="0" err="1"/>
              <a:t>Nanoli</a:t>
            </a:r>
            <a:r>
              <a:rPr dirty="0"/>
              <a:t>, Pune</a:t>
            </a:r>
          </a:p>
          <a:p>
            <a:br>
              <a:rPr dirty="0"/>
            </a:br>
            <a:r>
              <a:rPr dirty="0"/>
              <a:t>Profile: 2.0 Acres • Rainfed • Soybean &amp; Gram (</a:t>
            </a:r>
            <a:r>
              <a:rPr dirty="0" err="1"/>
              <a:t>Harbhara</a:t>
            </a:r>
            <a:r>
              <a:rPr dirty="0"/>
              <a:t>)</a:t>
            </a:r>
          </a:p>
          <a:p>
            <a:pPr>
              <a:defRPr sz="1000">
                <a:solidFill>
                  <a:srgbClr val="0F172A"/>
                </a:solidFill>
              </a:defRPr>
            </a:pPr>
            <a:r>
              <a:rPr dirty="0"/>
              <a:t>Answers: "At age 62 my eyesight cannot read tiny font on mobile screens. Two years ago, a wrong chemical spray burned my soybean leaves completely. Typing on phone keyboards is impossible for me."</a:t>
            </a:r>
          </a:p>
          <a:p>
            <a:br>
              <a:rPr dirty="0"/>
            </a:br>
            <a:r>
              <a:rPr dirty="0"/>
              <a:t>Suggestion: "Make buttons very big and let us ask questions by speaking into the microphone in Marathi, with spoken audio replies."</a:t>
            </a:r>
          </a:p>
        </p:txBody>
      </p:sp>
      <p:sp>
        <p:nvSpPr>
          <p:cNvPr id="6" name="Rounded Rectangle 5"/>
          <p:cNvSpPr/>
          <p:nvPr/>
        </p:nvSpPr>
        <p:spPr>
          <a:xfrm>
            <a:off x="6172200" y="1828800"/>
            <a:ext cx="5257800" cy="4297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228600" tIns="182880" rIns="228600" rtlCol="0" anchor="ctr"/>
          <a:lstStyle/>
          <a:p>
            <a:pPr algn="ctr">
              <a:defRPr sz="1300" b="1">
                <a:solidFill>
                  <a:srgbClr val="0F172A"/>
                </a:solidFill>
              </a:defRPr>
            </a:pPr>
            <a:r>
              <a:rPr dirty="0"/>
              <a:t>Rameshwar Raut (Age 46)</a:t>
            </a:r>
            <a:br>
              <a:rPr dirty="0"/>
            </a:br>
            <a:r>
              <a:rPr dirty="0"/>
              <a:t>High-Value Orchardist • </a:t>
            </a:r>
            <a:r>
              <a:rPr lang="en-IN" dirty="0" err="1"/>
              <a:t>nanoli</a:t>
            </a:r>
            <a:r>
              <a:rPr dirty="0"/>
              <a:t>, Pune</a:t>
            </a:r>
          </a:p>
          <a:p>
            <a:br>
              <a:rPr dirty="0"/>
            </a:br>
            <a:r>
              <a:rPr dirty="0"/>
              <a:t>Profile: 4.5 Acres • Farm Pond &amp; Drip • Pomegranate (</a:t>
            </a:r>
            <a:r>
              <a:rPr dirty="0" err="1"/>
              <a:t>Bhagwa</a:t>
            </a:r>
            <a:r>
              <a:rPr dirty="0"/>
              <a:t>)</a:t>
            </a:r>
          </a:p>
          <a:p>
            <a:pPr>
              <a:defRPr sz="1000">
                <a:solidFill>
                  <a:srgbClr val="0F172A"/>
                </a:solidFill>
              </a:defRPr>
            </a:pPr>
            <a:r>
              <a:rPr dirty="0"/>
              <a:t>Answers: "Bacterial Blight (</a:t>
            </a:r>
            <a:r>
              <a:rPr dirty="0" err="1"/>
              <a:t>Telya</a:t>
            </a:r>
            <a:r>
              <a:rPr dirty="0"/>
              <a:t>) wiped out ₹5 Lakhs of my orchard. Last month, rain fell 2 hours after a ₹6,000 systemic spray, completely washing it away. We need exact sticker dosages and hourly spray safety windows."</a:t>
            </a:r>
          </a:p>
          <a:p>
            <a:br>
              <a:rPr dirty="0"/>
            </a:br>
            <a:r>
              <a:rPr dirty="0"/>
              <a:t>Suggestion: "Include reliable rain and wind advisories telling us the exact safe hours to spray chemicals to prevent expensive wash-offs."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457200"/>
            <a:ext cx="10698480" cy="365760"/>
          </a:xfrm>
          <a:prstGeom prst="rect">
            <a:avLst/>
          </a:prstGeom>
          <a:noFill/>
        </p:spPr>
        <p:txBody>
          <a:bodyPr wrap="square" lIns="0" tIns="0" rIns="0" bIns="0">
            <a:spAutoFit/>
          </a:bodyPr>
          <a:lstStyle/>
          <a:p>
            <a:pPr>
              <a:defRPr sz="1100" b="1">
                <a:solidFill>
                  <a:srgbClr val="059669"/>
                </a:solidFill>
              </a:defRPr>
            </a:pPr>
            <a:r>
              <a:rPr dirty="0"/>
              <a:t>FIELD INTERVIEWS • PART 4</a:t>
            </a:r>
          </a:p>
        </p:txBody>
      </p:sp>
      <p:sp>
        <p:nvSpPr>
          <p:cNvPr id="3" name="TextBox 2"/>
          <p:cNvSpPr txBox="1"/>
          <p:nvPr/>
        </p:nvSpPr>
        <p:spPr>
          <a:xfrm>
            <a:off x="731520" y="777240"/>
            <a:ext cx="10698480" cy="548640"/>
          </a:xfrm>
          <a:prstGeom prst="rect">
            <a:avLst/>
          </a:prstGeom>
          <a:noFill/>
        </p:spPr>
        <p:txBody>
          <a:bodyPr wrap="square" lIns="0" tIns="0" rIns="0" bIns="0">
            <a:spAutoFit/>
          </a:bodyPr>
          <a:lstStyle/>
          <a:p>
            <a:pPr>
              <a:defRPr sz="2400" b="1">
                <a:solidFill>
                  <a:srgbClr val="0F172A"/>
                </a:solidFill>
              </a:defRPr>
            </a:pPr>
            <a:r>
              <a:rPr dirty="0"/>
              <a:t>Interviews 07 &amp; 08: Middleman Deductions &amp; Youth Agri-Tech</a:t>
            </a:r>
          </a:p>
        </p:txBody>
      </p:sp>
      <p:sp>
        <p:nvSpPr>
          <p:cNvPr id="4" name="TextBox 3"/>
          <p:cNvSpPr txBox="1"/>
          <p:nvPr/>
        </p:nvSpPr>
        <p:spPr>
          <a:xfrm>
            <a:off x="731520" y="1325880"/>
            <a:ext cx="10698480" cy="365760"/>
          </a:xfrm>
          <a:prstGeom prst="rect">
            <a:avLst/>
          </a:prstGeom>
          <a:noFill/>
        </p:spPr>
        <p:txBody>
          <a:bodyPr wrap="square" lIns="0" tIns="0" rIns="0" bIns="0">
            <a:spAutoFit/>
          </a:bodyPr>
          <a:lstStyle/>
          <a:p>
            <a:pPr>
              <a:defRPr sz="1200">
                <a:solidFill>
                  <a:srgbClr val="64748B"/>
                </a:solidFill>
              </a:defRPr>
            </a:pPr>
            <a:r>
              <a:rPr dirty="0"/>
              <a:t>Qualitative transcripts and ground-truth validation from active farming communities.</a:t>
            </a:r>
          </a:p>
        </p:txBody>
      </p:sp>
      <p:sp>
        <p:nvSpPr>
          <p:cNvPr id="5" name="Rounded Rectangle 4"/>
          <p:cNvSpPr/>
          <p:nvPr/>
        </p:nvSpPr>
        <p:spPr>
          <a:xfrm>
            <a:off x="731520" y="1828800"/>
            <a:ext cx="5257800" cy="4297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228600" tIns="182880" rIns="228600" rtlCol="0" anchor="ctr"/>
          <a:lstStyle/>
          <a:p>
            <a:pPr algn="ctr">
              <a:defRPr sz="1300" b="1">
                <a:solidFill>
                  <a:srgbClr val="0F172A"/>
                </a:solidFill>
              </a:defRPr>
            </a:pPr>
            <a:r>
              <a:rPr dirty="0"/>
              <a:t>Suresh Jadhav (Age 39)</a:t>
            </a:r>
            <a:br>
              <a:rPr dirty="0"/>
            </a:br>
            <a:r>
              <a:rPr dirty="0"/>
              <a:t>Tenant Smallholder • </a:t>
            </a:r>
            <a:r>
              <a:rPr lang="en-IN" dirty="0" err="1"/>
              <a:t>Nanoli</a:t>
            </a:r>
            <a:r>
              <a:rPr dirty="0"/>
              <a:t>, Pune</a:t>
            </a:r>
          </a:p>
          <a:p>
            <a:br>
              <a:rPr dirty="0"/>
            </a:br>
            <a:r>
              <a:rPr dirty="0"/>
              <a:t>Profile: 1.5 Acres Leased • River Lift • Onion &amp; Wheat</a:t>
            </a:r>
          </a:p>
          <a:p>
            <a:pPr>
              <a:defRPr sz="1000">
                <a:solidFill>
                  <a:srgbClr val="0F172A"/>
                </a:solidFill>
              </a:defRPr>
            </a:pPr>
            <a:r>
              <a:rPr dirty="0"/>
              <a:t>Answers: "After harvesting 50 bags of onions, the agent says rates dropped today to ₹12/kg. Transport cost was ₹3,000, so we sold at a loss. Arbitrary weighment cuts and lack of cold storage trap small farmers."</a:t>
            </a:r>
          </a:p>
          <a:p>
            <a:br>
              <a:rPr dirty="0"/>
            </a:br>
            <a:r>
              <a:rPr dirty="0"/>
              <a:t>Suggestion: "We need trustworthy daily prices before leaving our village so we don't become victims of distress selling."</a:t>
            </a:r>
          </a:p>
        </p:txBody>
      </p:sp>
      <p:sp>
        <p:nvSpPr>
          <p:cNvPr id="6" name="Rounded Rectangle 5"/>
          <p:cNvSpPr/>
          <p:nvPr/>
        </p:nvSpPr>
        <p:spPr>
          <a:xfrm>
            <a:off x="6172200" y="1828800"/>
            <a:ext cx="5257800" cy="4297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228600" tIns="182880" rIns="228600" rtlCol="0" anchor="ctr"/>
          <a:lstStyle/>
          <a:p>
            <a:pPr algn="ctr">
              <a:defRPr sz="1300" b="1">
                <a:solidFill>
                  <a:srgbClr val="0F172A"/>
                </a:solidFill>
              </a:defRPr>
            </a:pPr>
            <a:r>
              <a:rPr dirty="0"/>
              <a:t>Anand Gaikwad (Age 26)</a:t>
            </a:r>
            <a:br>
              <a:rPr dirty="0"/>
            </a:br>
            <a:r>
              <a:rPr dirty="0"/>
              <a:t>B.Sc. Agriculture Youth • </a:t>
            </a:r>
            <a:r>
              <a:rPr lang="en-IN" dirty="0" err="1"/>
              <a:t>Nanoli</a:t>
            </a:r>
            <a:r>
              <a:rPr dirty="0"/>
              <a:t>, </a:t>
            </a:r>
            <a:r>
              <a:rPr dirty="0" err="1"/>
              <a:t>Ambegaon</a:t>
            </a:r>
            <a:endParaRPr dirty="0"/>
          </a:p>
          <a:p>
            <a:br>
              <a:rPr dirty="0"/>
            </a:br>
            <a:r>
              <a:rPr dirty="0"/>
              <a:t>Profile: 2.5 Acres • Polyhouse • Capsicum &amp; Cucumber</a:t>
            </a:r>
          </a:p>
          <a:p>
            <a:pPr>
              <a:defRPr sz="1000">
                <a:solidFill>
                  <a:srgbClr val="0F172A"/>
                </a:solidFill>
              </a:defRPr>
            </a:pPr>
            <a:r>
              <a:rPr dirty="0"/>
              <a:t>Answers: "Elderly farmers come to me daily to diagnose strange leaf spots. Even as an agriculture graduate, micro-pathogens are tricky. High chemical use is destroying beneficial soil microbes."</a:t>
            </a:r>
          </a:p>
          <a:p>
            <a:br>
              <a:rPr dirty="0"/>
            </a:br>
            <a:r>
              <a:rPr dirty="0"/>
              <a:t>Suggestion: "An AI camera tool giving organic bio-controls alongside chemicals will protect crop yield and restore soil health across our entire village."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457200"/>
            <a:ext cx="10698480" cy="365760"/>
          </a:xfrm>
          <a:prstGeom prst="rect">
            <a:avLst/>
          </a:prstGeom>
          <a:noFill/>
        </p:spPr>
        <p:txBody>
          <a:bodyPr wrap="square" lIns="0" tIns="0" rIns="0" bIns="0">
            <a:spAutoFit/>
          </a:bodyPr>
          <a:lstStyle/>
          <a:p>
            <a:pPr>
              <a:defRPr sz="1100" b="1">
                <a:solidFill>
                  <a:srgbClr val="059669"/>
                </a:solidFill>
              </a:defRPr>
            </a:pPr>
            <a:r>
              <a:rPr dirty="0"/>
              <a:t>PERSONA PROFILE 01</a:t>
            </a:r>
          </a:p>
        </p:txBody>
      </p:sp>
      <p:sp>
        <p:nvSpPr>
          <p:cNvPr id="3" name="TextBox 2"/>
          <p:cNvSpPr txBox="1"/>
          <p:nvPr/>
        </p:nvSpPr>
        <p:spPr>
          <a:xfrm>
            <a:off x="731520" y="777240"/>
            <a:ext cx="10698480" cy="548640"/>
          </a:xfrm>
          <a:prstGeom prst="rect">
            <a:avLst/>
          </a:prstGeom>
          <a:noFill/>
        </p:spPr>
        <p:txBody>
          <a:bodyPr wrap="square" lIns="0" tIns="0" rIns="0" bIns="0">
            <a:spAutoFit/>
          </a:bodyPr>
          <a:lstStyle/>
          <a:p>
            <a:pPr>
              <a:defRPr sz="2400" b="1">
                <a:solidFill>
                  <a:srgbClr val="0F172A"/>
                </a:solidFill>
              </a:defRPr>
            </a:pPr>
            <a:r>
              <a:rPr dirty="0"/>
              <a:t>User Persona 01 – Dnyaneshwar Shinde</a:t>
            </a:r>
          </a:p>
        </p:txBody>
      </p:sp>
      <p:sp>
        <p:nvSpPr>
          <p:cNvPr id="4" name="TextBox 3"/>
          <p:cNvSpPr txBox="1"/>
          <p:nvPr/>
        </p:nvSpPr>
        <p:spPr>
          <a:xfrm>
            <a:off x="731520" y="1325880"/>
            <a:ext cx="10698480" cy="365760"/>
          </a:xfrm>
          <a:prstGeom prst="rect">
            <a:avLst/>
          </a:prstGeom>
          <a:noFill/>
        </p:spPr>
        <p:txBody>
          <a:bodyPr wrap="square" lIns="0" tIns="0" rIns="0" bIns="0">
            <a:spAutoFit/>
          </a:bodyPr>
          <a:lstStyle/>
          <a:p>
            <a:pPr>
              <a:defRPr sz="1200">
                <a:solidFill>
                  <a:srgbClr val="64748B"/>
                </a:solidFill>
              </a:defRPr>
            </a:pPr>
            <a:r>
              <a:rPr dirty="0"/>
              <a:t>Smallholder Vegetable Grower • High Disease Risk</a:t>
            </a:r>
          </a:p>
        </p:txBody>
      </p:sp>
      <p:pic>
        <p:nvPicPr>
          <p:cNvPr id="5" name="Picture 4" descr="farmer_spraying_pesticide.png"/>
          <p:cNvPicPr>
            <a:picLocks noChangeAspect="1"/>
          </p:cNvPicPr>
          <p:nvPr/>
        </p:nvPicPr>
        <p:blipFill>
          <a:blip r:embed="rId2"/>
          <a:stretch>
            <a:fillRect/>
          </a:stretch>
        </p:blipFill>
        <p:spPr>
          <a:xfrm>
            <a:off x="731520" y="1828800"/>
            <a:ext cx="3108960" cy="4114800"/>
          </a:xfrm>
          <a:prstGeom prst="rect">
            <a:avLst/>
          </a:prstGeom>
        </p:spPr>
      </p:pic>
      <p:sp>
        <p:nvSpPr>
          <p:cNvPr id="6" name="TextBox 5"/>
          <p:cNvSpPr txBox="1"/>
          <p:nvPr/>
        </p:nvSpPr>
        <p:spPr>
          <a:xfrm>
            <a:off x="4114800" y="1737360"/>
            <a:ext cx="7315200" cy="569387"/>
          </a:xfrm>
          <a:prstGeom prst="rect">
            <a:avLst/>
          </a:prstGeom>
          <a:noFill/>
        </p:spPr>
        <p:txBody>
          <a:bodyPr wrap="square" lIns="0" tIns="0">
            <a:spAutoFit/>
          </a:bodyPr>
          <a:lstStyle/>
          <a:p>
            <a:pPr>
              <a:defRPr sz="1100" b="1">
                <a:solidFill>
                  <a:srgbClr val="059669"/>
                </a:solidFill>
              </a:defRPr>
            </a:pPr>
            <a:r>
              <a:rPr dirty="0"/>
              <a:t>Age: 42 | Land: 1.8 Acres  | Crops: Tomato, Onion</a:t>
            </a:r>
          </a:p>
          <a:p>
            <a:pPr>
              <a:defRPr sz="1150" i="1">
                <a:solidFill>
                  <a:srgbClr val="0F172A"/>
                </a:solidFill>
              </a:defRPr>
            </a:pPr>
            <a:r>
              <a:rPr dirty="0"/>
              <a:t>"I need to know the exact leaf disease and chemical pump dosage in 5 seconds so I don't burn my crops or waste ₹3,000 on fake medicines."</a:t>
            </a:r>
          </a:p>
        </p:txBody>
      </p:sp>
      <p:sp>
        <p:nvSpPr>
          <p:cNvPr id="7" name="TextBox 6"/>
          <p:cNvSpPr txBox="1"/>
          <p:nvPr/>
        </p:nvSpPr>
        <p:spPr>
          <a:xfrm>
            <a:off x="4114800" y="2651760"/>
            <a:ext cx="7315200" cy="731520"/>
          </a:xfrm>
          <a:prstGeom prst="rect">
            <a:avLst/>
          </a:prstGeom>
          <a:noFill/>
        </p:spPr>
        <p:txBody>
          <a:bodyPr wrap="square" lIns="0" tIns="0">
            <a:spAutoFit/>
          </a:bodyPr>
          <a:lstStyle/>
          <a:p>
            <a:pPr>
              <a:defRPr sz="1100" b="1">
                <a:solidFill>
                  <a:srgbClr val="0F172A"/>
                </a:solidFill>
              </a:defRPr>
            </a:pPr>
            <a:r>
              <a:rPr dirty="0"/>
              <a:t>Background &amp; Operating Reality</a:t>
            </a:r>
          </a:p>
          <a:p>
            <a:pPr>
              <a:defRPr sz="1000">
                <a:solidFill>
                  <a:srgbClr val="64748B"/>
                </a:solidFill>
              </a:defRPr>
            </a:pPr>
            <a:r>
              <a:rPr dirty="0"/>
              <a:t>Dnyaneshwar's family income relies completely on weekly tomato crate harvests. An undetected leaf miner or purple blight outbreak can wipe out his season within 48 hours. He owns a budget 4G Android phone and has experienced severe leaf burn from incorrect chemical mixtures.</a:t>
            </a:r>
          </a:p>
        </p:txBody>
      </p:sp>
      <p:sp>
        <p:nvSpPr>
          <p:cNvPr id="8" name="Rounded Rectangle 7"/>
          <p:cNvSpPr/>
          <p:nvPr/>
        </p:nvSpPr>
        <p:spPr>
          <a:xfrm>
            <a:off x="4114800" y="3474720"/>
            <a:ext cx="7315200" cy="1051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109728" rtlCol="0" anchor="ctr"/>
          <a:lstStyle/>
          <a:p>
            <a:pPr algn="ctr">
              <a:defRPr sz="1100" b="1">
                <a:solidFill>
                  <a:srgbClr val="059669"/>
                </a:solidFill>
              </a:defRPr>
            </a:pPr>
            <a:r>
              <a:rPr dirty="0"/>
              <a:t>📱 How He Easily Uses AgriVision</a:t>
            </a:r>
          </a:p>
          <a:p>
            <a:pPr>
              <a:defRPr sz="1000">
                <a:solidFill>
                  <a:srgbClr val="64748B"/>
                </a:solidFill>
              </a:defRPr>
            </a:pPr>
            <a:r>
              <a:rPr dirty="0"/>
              <a:t>Taps the prominent green 'Check My Plant' button on his home screen. Takes a smartphone photo of the affected tomato leaf. Within 3 seconds, AgriVision identifies early blight and displays the exact milliliters (15 ml Custodia per 15L pump) with mandatory wetting sticker advice.</a:t>
            </a:r>
          </a:p>
        </p:txBody>
      </p:sp>
      <p:sp>
        <p:nvSpPr>
          <p:cNvPr id="9" name="Rounded Rectangle 8"/>
          <p:cNvSpPr/>
          <p:nvPr/>
        </p:nvSpPr>
        <p:spPr>
          <a:xfrm>
            <a:off x="4114800" y="4617720"/>
            <a:ext cx="7315200" cy="1051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109728" rtlCol="0" anchor="ctr"/>
          <a:lstStyle/>
          <a:p>
            <a:pPr algn="ctr">
              <a:defRPr sz="1100" b="1">
                <a:solidFill>
                  <a:srgbClr val="F59E0B"/>
                </a:solidFill>
              </a:defRPr>
            </a:pPr>
            <a:r>
              <a:rPr dirty="0"/>
              <a:t>💡 Core Value &amp; Financial Impact</a:t>
            </a:r>
          </a:p>
          <a:p>
            <a:pPr>
              <a:defRPr sz="1000">
                <a:solidFill>
                  <a:srgbClr val="64748B"/>
                </a:solidFill>
              </a:defRPr>
            </a:pPr>
            <a:r>
              <a:rPr dirty="0"/>
              <a:t>Eliminates unnecessary pesticide bundling, saving ₹2,000–₹4,000 per spray cycle. Prevents leaf scorching and checks </a:t>
            </a:r>
            <a:r>
              <a:rPr dirty="0" err="1"/>
              <a:t>Narayangaon</a:t>
            </a:r>
            <a:r>
              <a:rPr dirty="0"/>
              <a:t> mandi crate prices on his dashboard before booking transport.</a:t>
            </a:r>
          </a:p>
        </p:txBody>
      </p:sp>
      <p:sp>
        <p:nvSpPr>
          <p:cNvPr id="10" name="Rounded Rectangle 9"/>
          <p:cNvSpPr/>
          <p:nvPr/>
        </p:nvSpPr>
        <p:spPr>
          <a:xfrm>
            <a:off x="4114800" y="5760720"/>
            <a:ext cx="7315200" cy="411480"/>
          </a:xfrm>
          <a:prstGeom prst="roundRect">
            <a:avLst/>
          </a:prstGeom>
          <a:solidFill>
            <a:srgbClr val="ECFDF5"/>
          </a:solidFill>
          <a:ln>
            <a:solidFill>
              <a:srgbClr val="A7F3D0"/>
            </a:solidFill>
          </a:ln>
        </p:spPr>
        <p:style>
          <a:lnRef idx="1">
            <a:schemeClr val="accent1"/>
          </a:lnRef>
          <a:fillRef idx="3">
            <a:schemeClr val="accent1"/>
          </a:fillRef>
          <a:effectRef idx="2">
            <a:schemeClr val="accent1"/>
          </a:effectRef>
          <a:fontRef idx="minor">
            <a:schemeClr val="lt1"/>
          </a:fontRef>
        </p:style>
        <p:txBody>
          <a:bodyPr tIns="73152" rtlCol="0" anchor="ctr"/>
          <a:lstStyle/>
          <a:p>
            <a:pPr algn="ctr">
              <a:defRPr sz="1000" b="1">
                <a:solidFill>
                  <a:srgbClr val="059669"/>
                </a:solidFill>
              </a:defRPr>
            </a:pPr>
            <a:r>
              <a:rPr dirty="0"/>
              <a:t>Double Impact: Eliminates chemical overdosing while timing wholesale mandi sales for maximum crate returns.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457200"/>
            <a:ext cx="10698480" cy="365760"/>
          </a:xfrm>
          <a:prstGeom prst="rect">
            <a:avLst/>
          </a:prstGeom>
          <a:noFill/>
        </p:spPr>
        <p:txBody>
          <a:bodyPr wrap="square" lIns="0" tIns="0" rIns="0" bIns="0">
            <a:spAutoFit/>
          </a:bodyPr>
          <a:lstStyle/>
          <a:p>
            <a:pPr>
              <a:defRPr sz="1100" b="1">
                <a:solidFill>
                  <a:srgbClr val="059669"/>
                </a:solidFill>
              </a:defRPr>
            </a:pPr>
            <a:r>
              <a:rPr dirty="0"/>
              <a:t>PERSONA PROFILE 02</a:t>
            </a:r>
          </a:p>
        </p:txBody>
      </p:sp>
      <p:sp>
        <p:nvSpPr>
          <p:cNvPr id="3" name="TextBox 2"/>
          <p:cNvSpPr txBox="1"/>
          <p:nvPr/>
        </p:nvSpPr>
        <p:spPr>
          <a:xfrm>
            <a:off x="731520" y="777240"/>
            <a:ext cx="10698480" cy="548640"/>
          </a:xfrm>
          <a:prstGeom prst="rect">
            <a:avLst/>
          </a:prstGeom>
          <a:noFill/>
        </p:spPr>
        <p:txBody>
          <a:bodyPr wrap="square" lIns="0" tIns="0" rIns="0" bIns="0">
            <a:spAutoFit/>
          </a:bodyPr>
          <a:lstStyle/>
          <a:p>
            <a:pPr>
              <a:defRPr sz="2400" b="1">
                <a:solidFill>
                  <a:srgbClr val="0F172A"/>
                </a:solidFill>
              </a:defRPr>
            </a:pPr>
            <a:r>
              <a:rPr dirty="0"/>
              <a:t>User Persona 02 – Pandurang More</a:t>
            </a:r>
          </a:p>
        </p:txBody>
      </p:sp>
      <p:sp>
        <p:nvSpPr>
          <p:cNvPr id="4" name="TextBox 3"/>
          <p:cNvSpPr txBox="1"/>
          <p:nvPr/>
        </p:nvSpPr>
        <p:spPr>
          <a:xfrm>
            <a:off x="731520" y="1325880"/>
            <a:ext cx="10698480" cy="365760"/>
          </a:xfrm>
          <a:prstGeom prst="rect">
            <a:avLst/>
          </a:prstGeom>
          <a:noFill/>
        </p:spPr>
        <p:txBody>
          <a:bodyPr wrap="square" lIns="0" tIns="0" rIns="0" bIns="0">
            <a:spAutoFit/>
          </a:bodyPr>
          <a:lstStyle/>
          <a:p>
            <a:pPr>
              <a:defRPr sz="1200">
                <a:solidFill>
                  <a:srgbClr val="64748B"/>
                </a:solidFill>
              </a:defRPr>
            </a:pPr>
            <a:r>
              <a:rPr dirty="0"/>
              <a:t>Voice-Dependent Elder • Low-Literacy Dryland Farmer</a:t>
            </a:r>
          </a:p>
        </p:txBody>
      </p:sp>
      <p:pic>
        <p:nvPicPr>
          <p:cNvPr id="5" name="Picture 4" descr="elderly_farmer_portrait.jpg"/>
          <p:cNvPicPr>
            <a:picLocks noChangeAspect="1"/>
          </p:cNvPicPr>
          <p:nvPr/>
        </p:nvPicPr>
        <p:blipFill>
          <a:blip r:embed="rId2"/>
          <a:stretch>
            <a:fillRect/>
          </a:stretch>
        </p:blipFill>
        <p:spPr>
          <a:xfrm>
            <a:off x="731520" y="1828800"/>
            <a:ext cx="3108960" cy="4114800"/>
          </a:xfrm>
          <a:prstGeom prst="rect">
            <a:avLst/>
          </a:prstGeom>
        </p:spPr>
      </p:pic>
      <p:sp>
        <p:nvSpPr>
          <p:cNvPr id="6" name="TextBox 5"/>
          <p:cNvSpPr txBox="1"/>
          <p:nvPr/>
        </p:nvSpPr>
        <p:spPr>
          <a:xfrm>
            <a:off x="4114800" y="1737360"/>
            <a:ext cx="7315200" cy="569387"/>
          </a:xfrm>
          <a:prstGeom prst="rect">
            <a:avLst/>
          </a:prstGeom>
          <a:noFill/>
        </p:spPr>
        <p:txBody>
          <a:bodyPr wrap="square" lIns="0" tIns="0">
            <a:spAutoFit/>
          </a:bodyPr>
          <a:lstStyle/>
          <a:p>
            <a:pPr>
              <a:defRPr sz="1100" b="1">
                <a:solidFill>
                  <a:srgbClr val="059669"/>
                </a:solidFill>
              </a:defRPr>
            </a:pPr>
            <a:r>
              <a:rPr dirty="0"/>
              <a:t>Age: 62 | Land: 2.0 Acres | Crops: Rainfed Soybean, Gram (</a:t>
            </a:r>
            <a:r>
              <a:rPr dirty="0" err="1"/>
              <a:t>Harbhara</a:t>
            </a:r>
            <a:r>
              <a:rPr dirty="0"/>
              <a:t>)</a:t>
            </a:r>
          </a:p>
          <a:p>
            <a:pPr>
              <a:defRPr sz="1150" i="1">
                <a:solidFill>
                  <a:srgbClr val="0F172A"/>
                </a:solidFill>
              </a:defRPr>
            </a:pPr>
            <a:r>
              <a:rPr dirty="0"/>
              <a:t>"My eyes cannot read small English letters on mobile screens. If the phone speaks aloud in Marathi, an old farmer like me can farm with dignity."</a:t>
            </a:r>
          </a:p>
        </p:txBody>
      </p:sp>
      <p:sp>
        <p:nvSpPr>
          <p:cNvPr id="7" name="TextBox 6"/>
          <p:cNvSpPr txBox="1"/>
          <p:nvPr/>
        </p:nvSpPr>
        <p:spPr>
          <a:xfrm>
            <a:off x="4114800" y="2651760"/>
            <a:ext cx="7315200" cy="731520"/>
          </a:xfrm>
          <a:prstGeom prst="rect">
            <a:avLst/>
          </a:prstGeom>
          <a:noFill/>
        </p:spPr>
        <p:txBody>
          <a:bodyPr wrap="square" lIns="0" tIns="0">
            <a:spAutoFit/>
          </a:bodyPr>
          <a:lstStyle/>
          <a:p>
            <a:pPr>
              <a:defRPr sz="1100" b="1">
                <a:solidFill>
                  <a:srgbClr val="0F172A"/>
                </a:solidFill>
              </a:defRPr>
            </a:pPr>
            <a:r>
              <a:rPr dirty="0"/>
              <a:t>Background &amp; Operating Reality</a:t>
            </a:r>
          </a:p>
          <a:p>
            <a:pPr>
              <a:defRPr sz="1000">
                <a:solidFill>
                  <a:srgbClr val="64748B"/>
                </a:solidFill>
              </a:defRPr>
            </a:pPr>
            <a:r>
              <a:rPr dirty="0"/>
              <a:t>Pandurang has farmed rainfed land for 40 years. He suffers from presbyopia and cannot read small fonts in direct sunlight. He borrows his son's Android smartphone but cannot type on virtual touch keyboards. Deceptive fertilizer dealers have previously sold him wrong chemicals.</a:t>
            </a:r>
          </a:p>
        </p:txBody>
      </p:sp>
      <p:sp>
        <p:nvSpPr>
          <p:cNvPr id="8" name="Rounded Rectangle 7"/>
          <p:cNvSpPr/>
          <p:nvPr/>
        </p:nvSpPr>
        <p:spPr>
          <a:xfrm>
            <a:off x="4114800" y="3474720"/>
            <a:ext cx="7315200" cy="1051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109728" rtlCol="0" anchor="ctr"/>
          <a:lstStyle/>
          <a:p>
            <a:pPr algn="ctr">
              <a:defRPr sz="1100" b="1">
                <a:solidFill>
                  <a:srgbClr val="059669"/>
                </a:solidFill>
              </a:defRPr>
            </a:pPr>
            <a:r>
              <a:rPr dirty="0"/>
              <a:t>📱 How He Easily Uses AgriVision</a:t>
            </a:r>
          </a:p>
          <a:p>
            <a:pPr>
              <a:defRPr sz="1000">
                <a:solidFill>
                  <a:srgbClr val="64748B"/>
                </a:solidFill>
              </a:defRPr>
            </a:pPr>
            <a:r>
              <a:rPr dirty="0"/>
              <a:t>Taps the Voice Speaker button (</a:t>
            </a:r>
            <a:r>
              <a:rPr dirty="0" err="1"/>
              <a:t>VoiceSpeakerButton</a:t>
            </a:r>
            <a:r>
              <a:rPr dirty="0"/>
              <a:t>) on any screen to hear weather alerts, mandi prices, and crop advice read aloud in natural Marathi. Uses the Voice Microphone button (</a:t>
            </a:r>
            <a:r>
              <a:rPr dirty="0" err="1"/>
              <a:t>VoiceMicButton</a:t>
            </a:r>
            <a:r>
              <a:rPr dirty="0"/>
              <a:t>) to speak his questions naturally instead of typing.</a:t>
            </a:r>
          </a:p>
        </p:txBody>
      </p:sp>
      <p:sp>
        <p:nvSpPr>
          <p:cNvPr id="9" name="Rounded Rectangle 8"/>
          <p:cNvSpPr/>
          <p:nvPr/>
        </p:nvSpPr>
        <p:spPr>
          <a:xfrm>
            <a:off x="4114800" y="4617720"/>
            <a:ext cx="7315200" cy="1051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109728" rtlCol="0" anchor="ctr"/>
          <a:lstStyle/>
          <a:p>
            <a:pPr algn="ctr">
              <a:defRPr sz="1100" b="1">
                <a:solidFill>
                  <a:srgbClr val="F59E0B"/>
                </a:solidFill>
              </a:defRPr>
            </a:pPr>
            <a:r>
              <a:rPr dirty="0"/>
              <a:t>💡 Core Value &amp; Financial Impact</a:t>
            </a:r>
          </a:p>
          <a:p>
            <a:pPr>
              <a:defRPr sz="1000">
                <a:solidFill>
                  <a:srgbClr val="64748B"/>
                </a:solidFill>
              </a:defRPr>
            </a:pPr>
            <a:r>
              <a:rPr dirty="0"/>
              <a:t>Provides total digital independence with zero literacy barrier. Large 48px touch targets ensure smooth outdoor interaction with rough, calloused hands.</a:t>
            </a:r>
          </a:p>
        </p:txBody>
      </p:sp>
      <p:sp>
        <p:nvSpPr>
          <p:cNvPr id="10" name="Rounded Rectangle 9"/>
          <p:cNvSpPr/>
          <p:nvPr/>
        </p:nvSpPr>
        <p:spPr>
          <a:xfrm>
            <a:off x="4114800" y="5760720"/>
            <a:ext cx="7315200" cy="411480"/>
          </a:xfrm>
          <a:prstGeom prst="roundRect">
            <a:avLst/>
          </a:prstGeom>
          <a:solidFill>
            <a:srgbClr val="ECFDF5"/>
          </a:solidFill>
          <a:ln>
            <a:solidFill>
              <a:srgbClr val="A7F3D0"/>
            </a:solidFill>
          </a:ln>
        </p:spPr>
        <p:style>
          <a:lnRef idx="1">
            <a:schemeClr val="accent1"/>
          </a:lnRef>
          <a:fillRef idx="3">
            <a:schemeClr val="accent1"/>
          </a:fillRef>
          <a:effectRef idx="2">
            <a:schemeClr val="accent1"/>
          </a:effectRef>
          <a:fontRef idx="minor">
            <a:schemeClr val="lt1"/>
          </a:fontRef>
        </p:style>
        <p:txBody>
          <a:bodyPr tIns="73152" rtlCol="0" anchor="ctr"/>
          <a:lstStyle/>
          <a:p>
            <a:pPr algn="ctr">
              <a:defRPr sz="1000" b="1">
                <a:solidFill>
                  <a:srgbClr val="059669"/>
                </a:solidFill>
              </a:defRPr>
            </a:pPr>
            <a:r>
              <a:rPr dirty="0"/>
              <a:t>Real-World Autonomy: Multimodal Marathi audio removes the reading and typing barrier completely.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457200"/>
            <a:ext cx="10698480" cy="365760"/>
          </a:xfrm>
          <a:prstGeom prst="rect">
            <a:avLst/>
          </a:prstGeom>
          <a:noFill/>
        </p:spPr>
        <p:txBody>
          <a:bodyPr wrap="square" lIns="0" tIns="0" rIns="0" bIns="0">
            <a:spAutoFit/>
          </a:bodyPr>
          <a:lstStyle/>
          <a:p>
            <a:pPr>
              <a:defRPr sz="1100" b="1">
                <a:solidFill>
                  <a:srgbClr val="059669"/>
                </a:solidFill>
              </a:defRPr>
            </a:pPr>
            <a:r>
              <a:rPr dirty="0"/>
              <a:t>PERSONA PROFILE 03</a:t>
            </a:r>
          </a:p>
        </p:txBody>
      </p:sp>
      <p:sp>
        <p:nvSpPr>
          <p:cNvPr id="3" name="TextBox 2"/>
          <p:cNvSpPr txBox="1"/>
          <p:nvPr/>
        </p:nvSpPr>
        <p:spPr>
          <a:xfrm>
            <a:off x="731520" y="777240"/>
            <a:ext cx="10698480" cy="548640"/>
          </a:xfrm>
          <a:prstGeom prst="rect">
            <a:avLst/>
          </a:prstGeom>
          <a:noFill/>
        </p:spPr>
        <p:txBody>
          <a:bodyPr wrap="square" lIns="0" tIns="0" rIns="0" bIns="0">
            <a:spAutoFit/>
          </a:bodyPr>
          <a:lstStyle/>
          <a:p>
            <a:pPr>
              <a:defRPr sz="2400" b="1">
                <a:solidFill>
                  <a:srgbClr val="0F172A"/>
                </a:solidFill>
              </a:defRPr>
            </a:pPr>
            <a:r>
              <a:rPr dirty="0"/>
              <a:t>User Persona 03 – Sachin Kadam</a:t>
            </a:r>
          </a:p>
        </p:txBody>
      </p:sp>
      <p:sp>
        <p:nvSpPr>
          <p:cNvPr id="4" name="TextBox 3"/>
          <p:cNvSpPr txBox="1"/>
          <p:nvPr/>
        </p:nvSpPr>
        <p:spPr>
          <a:xfrm>
            <a:off x="731520" y="1325880"/>
            <a:ext cx="10698480" cy="365760"/>
          </a:xfrm>
          <a:prstGeom prst="rect">
            <a:avLst/>
          </a:prstGeom>
          <a:noFill/>
        </p:spPr>
        <p:txBody>
          <a:bodyPr wrap="square" lIns="0" tIns="0" rIns="0" bIns="0">
            <a:spAutoFit/>
          </a:bodyPr>
          <a:lstStyle/>
          <a:p>
            <a:pPr>
              <a:defRPr sz="1200">
                <a:solidFill>
                  <a:srgbClr val="64748B"/>
                </a:solidFill>
              </a:defRPr>
            </a:pPr>
            <a:r>
              <a:rPr dirty="0"/>
              <a:t>Market-Savvy Progressive Youth • Commercial Cash Cropper</a:t>
            </a:r>
          </a:p>
        </p:txBody>
      </p:sp>
      <p:pic>
        <p:nvPicPr>
          <p:cNvPr id="5" name="Picture 4" descr="farmer_cotton_field_inspection.jpg"/>
          <p:cNvPicPr>
            <a:picLocks noChangeAspect="1"/>
          </p:cNvPicPr>
          <p:nvPr/>
        </p:nvPicPr>
        <p:blipFill>
          <a:blip r:embed="rId2"/>
          <a:stretch>
            <a:fillRect/>
          </a:stretch>
        </p:blipFill>
        <p:spPr>
          <a:xfrm>
            <a:off x="731520" y="1828800"/>
            <a:ext cx="3108960" cy="4114800"/>
          </a:xfrm>
          <a:prstGeom prst="rect">
            <a:avLst/>
          </a:prstGeom>
        </p:spPr>
      </p:pic>
      <p:sp>
        <p:nvSpPr>
          <p:cNvPr id="6" name="TextBox 5"/>
          <p:cNvSpPr txBox="1"/>
          <p:nvPr/>
        </p:nvSpPr>
        <p:spPr>
          <a:xfrm>
            <a:off x="4114800" y="1737360"/>
            <a:ext cx="7315200" cy="569387"/>
          </a:xfrm>
          <a:prstGeom prst="rect">
            <a:avLst/>
          </a:prstGeom>
          <a:noFill/>
        </p:spPr>
        <p:txBody>
          <a:bodyPr wrap="square" lIns="0" tIns="0">
            <a:spAutoFit/>
          </a:bodyPr>
          <a:lstStyle/>
          <a:p>
            <a:pPr>
              <a:defRPr sz="1100" b="1">
                <a:solidFill>
                  <a:srgbClr val="059669"/>
                </a:solidFill>
              </a:defRPr>
            </a:pPr>
            <a:r>
              <a:rPr dirty="0"/>
              <a:t>Age: 32 | Land: 3.2 Acres | Crops: Red Onion, Potato, Capsicum</a:t>
            </a:r>
          </a:p>
          <a:p>
            <a:pPr>
              <a:defRPr sz="1150" i="1">
                <a:solidFill>
                  <a:srgbClr val="0F172A"/>
                </a:solidFill>
              </a:defRPr>
            </a:pPr>
            <a:r>
              <a:rPr dirty="0"/>
              <a:t>"If live rates of all 8 Pune mandis and 7-day price forecasts appeared on one screen at 8 AM, I could make ₹300 more per quintal on every truck."</a:t>
            </a:r>
          </a:p>
        </p:txBody>
      </p:sp>
      <p:sp>
        <p:nvSpPr>
          <p:cNvPr id="7" name="TextBox 6"/>
          <p:cNvSpPr txBox="1"/>
          <p:nvPr/>
        </p:nvSpPr>
        <p:spPr>
          <a:xfrm>
            <a:off x="4114800" y="2651760"/>
            <a:ext cx="7315200" cy="731520"/>
          </a:xfrm>
          <a:prstGeom prst="rect">
            <a:avLst/>
          </a:prstGeom>
          <a:noFill/>
        </p:spPr>
        <p:txBody>
          <a:bodyPr wrap="square" lIns="0" tIns="0">
            <a:spAutoFit/>
          </a:bodyPr>
          <a:lstStyle/>
          <a:p>
            <a:pPr>
              <a:defRPr sz="1100" b="1">
                <a:solidFill>
                  <a:srgbClr val="0F172A"/>
                </a:solidFill>
              </a:defRPr>
            </a:pPr>
            <a:r>
              <a:rPr dirty="0"/>
              <a:t>Background &amp; Operating Reality</a:t>
            </a:r>
          </a:p>
          <a:p>
            <a:pPr>
              <a:defRPr sz="1000">
                <a:solidFill>
                  <a:srgbClr val="64748B"/>
                </a:solidFill>
              </a:defRPr>
            </a:pPr>
            <a:r>
              <a:rPr dirty="0"/>
              <a:t>Sachin is tech-fluent and views farming as an agile business enterprise. He monitors multiple agricultural WhatsApp groups but struggles with conflicting rumors and sudden wholesale price collapses after arriving at market yards.</a:t>
            </a:r>
          </a:p>
        </p:txBody>
      </p:sp>
      <p:sp>
        <p:nvSpPr>
          <p:cNvPr id="8" name="Rounded Rectangle 7"/>
          <p:cNvSpPr/>
          <p:nvPr/>
        </p:nvSpPr>
        <p:spPr>
          <a:xfrm>
            <a:off x="4114800" y="3474720"/>
            <a:ext cx="7315200" cy="1051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109728" rtlCol="0" anchor="ctr"/>
          <a:lstStyle/>
          <a:p>
            <a:pPr algn="ctr">
              <a:defRPr sz="1100" b="1">
                <a:solidFill>
                  <a:srgbClr val="059669"/>
                </a:solidFill>
              </a:defRPr>
            </a:pPr>
            <a:r>
              <a:rPr dirty="0"/>
              <a:t>📱 How He Easily Uses AgriVision</a:t>
            </a:r>
          </a:p>
          <a:p>
            <a:pPr>
              <a:defRPr sz="1000">
                <a:solidFill>
                  <a:srgbClr val="64748B"/>
                </a:solidFill>
              </a:defRPr>
            </a:pPr>
            <a:r>
              <a:rPr dirty="0"/>
              <a:t>Opens the Pune Mandi Tracker (/markets) at 7:30 AM. Reviews the 8 APMC comparison matrix showing positive/negative price spreads between Chakan, </a:t>
            </a:r>
            <a:r>
              <a:rPr dirty="0" err="1"/>
              <a:t>Narayangaon</a:t>
            </a:r>
            <a:r>
              <a:rPr dirty="0"/>
              <a:t>, and Pune Market Yard. Uses the dual-zone SVG price chart to time harvesting.</a:t>
            </a:r>
          </a:p>
        </p:txBody>
      </p:sp>
      <p:sp>
        <p:nvSpPr>
          <p:cNvPr id="9" name="Rounded Rectangle 8"/>
          <p:cNvSpPr/>
          <p:nvPr/>
        </p:nvSpPr>
        <p:spPr>
          <a:xfrm>
            <a:off x="4114800" y="4617720"/>
            <a:ext cx="7315200" cy="1051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109728" rtlCol="0" anchor="ctr"/>
          <a:lstStyle/>
          <a:p>
            <a:pPr algn="ctr">
              <a:defRPr sz="1100" b="1">
                <a:solidFill>
                  <a:srgbClr val="F59E0B"/>
                </a:solidFill>
              </a:defRPr>
            </a:pPr>
            <a:r>
              <a:rPr dirty="0"/>
              <a:t>💡 Core Value &amp; Financial Impact</a:t>
            </a:r>
          </a:p>
          <a:p>
            <a:pPr>
              <a:defRPr sz="1000">
                <a:solidFill>
                  <a:srgbClr val="64748B"/>
                </a:solidFill>
              </a:defRPr>
            </a:pPr>
            <a:r>
              <a:rPr dirty="0"/>
              <a:t>Captures price arbitrage, preventing ₹10,000–₹15,000 distress sale losses per harvest. Uses the soil yield calculator to scientifically plan next season's crop rotation.</a:t>
            </a:r>
          </a:p>
        </p:txBody>
      </p:sp>
      <p:sp>
        <p:nvSpPr>
          <p:cNvPr id="10" name="Rounded Rectangle 9"/>
          <p:cNvSpPr/>
          <p:nvPr/>
        </p:nvSpPr>
        <p:spPr>
          <a:xfrm>
            <a:off x="4114800" y="5760720"/>
            <a:ext cx="7315200" cy="411480"/>
          </a:xfrm>
          <a:prstGeom prst="roundRect">
            <a:avLst/>
          </a:prstGeom>
          <a:solidFill>
            <a:srgbClr val="ECFDF5"/>
          </a:solidFill>
          <a:ln>
            <a:solidFill>
              <a:srgbClr val="A7F3D0"/>
            </a:solidFill>
          </a:ln>
        </p:spPr>
        <p:style>
          <a:lnRef idx="1">
            <a:schemeClr val="accent1"/>
          </a:lnRef>
          <a:fillRef idx="3">
            <a:schemeClr val="accent1"/>
          </a:fillRef>
          <a:effectRef idx="2">
            <a:schemeClr val="accent1"/>
          </a:effectRef>
          <a:fontRef idx="minor">
            <a:schemeClr val="lt1"/>
          </a:fontRef>
        </p:style>
        <p:txBody>
          <a:bodyPr tIns="73152" rtlCol="0" anchor="ctr"/>
          <a:lstStyle/>
          <a:p>
            <a:pPr algn="ctr">
              <a:defRPr sz="1000" b="1">
                <a:solidFill>
                  <a:srgbClr val="059669"/>
                </a:solidFill>
              </a:defRPr>
            </a:pPr>
            <a:r>
              <a:rPr dirty="0"/>
              <a:t>Strategic Arbitrage: Real-time price spread analytics empower farmers to negotiate as equals in wholesale mandis.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457200"/>
            <a:ext cx="10698480" cy="365760"/>
          </a:xfrm>
          <a:prstGeom prst="rect">
            <a:avLst/>
          </a:prstGeom>
          <a:noFill/>
        </p:spPr>
        <p:txBody>
          <a:bodyPr wrap="square" lIns="0" tIns="0" rIns="0" bIns="0">
            <a:spAutoFit/>
          </a:bodyPr>
          <a:lstStyle/>
          <a:p>
            <a:pPr>
              <a:defRPr sz="1100" b="1">
                <a:solidFill>
                  <a:srgbClr val="059669"/>
                </a:solidFill>
              </a:defRPr>
            </a:pPr>
            <a:r>
              <a:rPr dirty="0"/>
              <a:t>PERSONA PROFILE 04</a:t>
            </a:r>
          </a:p>
        </p:txBody>
      </p:sp>
      <p:sp>
        <p:nvSpPr>
          <p:cNvPr id="3" name="TextBox 2"/>
          <p:cNvSpPr txBox="1"/>
          <p:nvPr/>
        </p:nvSpPr>
        <p:spPr>
          <a:xfrm>
            <a:off x="731520" y="777240"/>
            <a:ext cx="10698480" cy="548640"/>
          </a:xfrm>
          <a:prstGeom prst="rect">
            <a:avLst/>
          </a:prstGeom>
          <a:noFill/>
        </p:spPr>
        <p:txBody>
          <a:bodyPr wrap="square" lIns="0" tIns="0" rIns="0" bIns="0">
            <a:spAutoFit/>
          </a:bodyPr>
          <a:lstStyle/>
          <a:p>
            <a:pPr>
              <a:defRPr sz="2400" b="1">
                <a:solidFill>
                  <a:srgbClr val="0F172A"/>
                </a:solidFill>
              </a:defRPr>
            </a:pPr>
            <a:r>
              <a:rPr dirty="0"/>
              <a:t>User Persona 04 – </a:t>
            </a:r>
            <a:r>
              <a:rPr dirty="0" err="1"/>
              <a:t>Babanrao</a:t>
            </a:r>
            <a:r>
              <a:rPr dirty="0"/>
              <a:t> Patil &amp; Suresh Jadhav</a:t>
            </a:r>
          </a:p>
        </p:txBody>
      </p:sp>
      <p:sp>
        <p:nvSpPr>
          <p:cNvPr id="4" name="TextBox 3"/>
          <p:cNvSpPr txBox="1"/>
          <p:nvPr/>
        </p:nvSpPr>
        <p:spPr>
          <a:xfrm>
            <a:off x="731520" y="1325880"/>
            <a:ext cx="10698480" cy="365760"/>
          </a:xfrm>
          <a:prstGeom prst="rect">
            <a:avLst/>
          </a:prstGeom>
          <a:noFill/>
        </p:spPr>
        <p:txBody>
          <a:bodyPr wrap="square" lIns="0" tIns="0" rIns="0" bIns="0">
            <a:spAutoFit/>
          </a:bodyPr>
          <a:lstStyle/>
          <a:p>
            <a:pPr>
              <a:defRPr sz="1200">
                <a:solidFill>
                  <a:srgbClr val="64748B"/>
                </a:solidFill>
              </a:defRPr>
            </a:pPr>
            <a:r>
              <a:rPr dirty="0"/>
              <a:t>Traditional Soil Cultivators • Land &amp; Water Focused</a:t>
            </a:r>
          </a:p>
        </p:txBody>
      </p:sp>
      <p:pic>
        <p:nvPicPr>
          <p:cNvPr id="5" name="Picture 4" descr="farmer_bullock_plowing.png"/>
          <p:cNvPicPr>
            <a:picLocks noChangeAspect="1"/>
          </p:cNvPicPr>
          <p:nvPr/>
        </p:nvPicPr>
        <p:blipFill>
          <a:blip r:embed="rId2"/>
          <a:stretch>
            <a:fillRect/>
          </a:stretch>
        </p:blipFill>
        <p:spPr>
          <a:xfrm>
            <a:off x="731520" y="1828800"/>
            <a:ext cx="3108960" cy="4114800"/>
          </a:xfrm>
          <a:prstGeom prst="rect">
            <a:avLst/>
          </a:prstGeom>
        </p:spPr>
      </p:pic>
      <p:sp>
        <p:nvSpPr>
          <p:cNvPr id="6" name="TextBox 5"/>
          <p:cNvSpPr txBox="1"/>
          <p:nvPr/>
        </p:nvSpPr>
        <p:spPr>
          <a:xfrm>
            <a:off x="4114800" y="1737360"/>
            <a:ext cx="7315200" cy="392415"/>
          </a:xfrm>
          <a:prstGeom prst="rect">
            <a:avLst/>
          </a:prstGeom>
          <a:noFill/>
        </p:spPr>
        <p:txBody>
          <a:bodyPr wrap="square" lIns="0" tIns="0">
            <a:spAutoFit/>
          </a:bodyPr>
          <a:lstStyle/>
          <a:p>
            <a:pPr>
              <a:defRPr sz="1100" b="1">
                <a:solidFill>
                  <a:srgbClr val="059669"/>
                </a:solidFill>
              </a:defRPr>
            </a:pPr>
            <a:r>
              <a:rPr dirty="0"/>
              <a:t>Age: 45–51 | Land: 4.0 Acres | Crops: Sugarcane, Wheat, Soybean</a:t>
            </a:r>
          </a:p>
          <a:p>
            <a:pPr>
              <a:defRPr sz="1150" i="1">
                <a:solidFill>
                  <a:srgbClr val="0F172A"/>
                </a:solidFill>
              </a:defRPr>
            </a:pPr>
            <a:r>
              <a:rPr dirty="0"/>
              <a:t>"We need practical soil guidance that doesn't force us to decode confusing laboratory test chemistry."</a:t>
            </a:r>
          </a:p>
        </p:txBody>
      </p:sp>
      <p:sp>
        <p:nvSpPr>
          <p:cNvPr id="7" name="TextBox 6"/>
          <p:cNvSpPr txBox="1"/>
          <p:nvPr/>
        </p:nvSpPr>
        <p:spPr>
          <a:xfrm>
            <a:off x="4114800" y="2651760"/>
            <a:ext cx="7315200" cy="731520"/>
          </a:xfrm>
          <a:prstGeom prst="rect">
            <a:avLst/>
          </a:prstGeom>
          <a:noFill/>
        </p:spPr>
        <p:txBody>
          <a:bodyPr wrap="square" lIns="0" tIns="0">
            <a:spAutoFit/>
          </a:bodyPr>
          <a:lstStyle/>
          <a:p>
            <a:pPr>
              <a:defRPr sz="1100" b="1">
                <a:solidFill>
                  <a:srgbClr val="0F172A"/>
                </a:solidFill>
              </a:defRPr>
            </a:pPr>
            <a:r>
              <a:rPr dirty="0"/>
              <a:t>Background &amp; Operating Reality</a:t>
            </a:r>
          </a:p>
          <a:p>
            <a:pPr>
              <a:defRPr sz="1000">
                <a:solidFill>
                  <a:srgbClr val="64748B"/>
                </a:solidFill>
              </a:defRPr>
            </a:pPr>
            <a:r>
              <a:rPr dirty="0"/>
              <a:t>These farmers maintain traditional farming methods with bullock plowing alongside tube wells. Over decades of intensive chemical cultivation, their soil has suffered nutrient imbalances. Soil testing labs are distant and their reports present intimidating scientific terminology.</a:t>
            </a:r>
          </a:p>
        </p:txBody>
      </p:sp>
      <p:sp>
        <p:nvSpPr>
          <p:cNvPr id="8" name="Rounded Rectangle 7"/>
          <p:cNvSpPr/>
          <p:nvPr/>
        </p:nvSpPr>
        <p:spPr>
          <a:xfrm>
            <a:off x="4114800" y="3474720"/>
            <a:ext cx="7315200" cy="1051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109728" rtlCol="0" anchor="ctr"/>
          <a:lstStyle/>
          <a:p>
            <a:pPr algn="ctr">
              <a:defRPr sz="1100" b="1">
                <a:solidFill>
                  <a:srgbClr val="059669"/>
                </a:solidFill>
              </a:defRPr>
            </a:pPr>
            <a:r>
              <a:rPr dirty="0"/>
              <a:t>📱 How They Easily Use AgriVision</a:t>
            </a:r>
          </a:p>
          <a:p>
            <a:pPr>
              <a:defRPr sz="1000">
                <a:solidFill>
                  <a:srgbClr val="64748B"/>
                </a:solidFill>
              </a:defRPr>
            </a:pPr>
            <a:r>
              <a:rPr dirty="0"/>
              <a:t>Opens the Farm Dashboard (/dashboard) and selects 1-tap regional soil presets ('Medium Black Soil - Canal' or 'Deep Black Soil - Well'). </a:t>
            </a:r>
            <a:r>
              <a:rPr dirty="0" err="1"/>
              <a:t>AgriVision's</a:t>
            </a:r>
            <a:r>
              <a:rPr dirty="0"/>
              <a:t> </a:t>
            </a:r>
            <a:r>
              <a:rPr dirty="0" err="1"/>
              <a:t>XGBoost</a:t>
            </a:r>
            <a:r>
              <a:rPr dirty="0"/>
              <a:t> ML model immediately calculates expected yield in quintals per acre for different candidate crops.</a:t>
            </a:r>
          </a:p>
        </p:txBody>
      </p:sp>
      <p:sp>
        <p:nvSpPr>
          <p:cNvPr id="9" name="Rounded Rectangle 8"/>
          <p:cNvSpPr/>
          <p:nvPr/>
        </p:nvSpPr>
        <p:spPr>
          <a:xfrm>
            <a:off x="4114800" y="4617720"/>
            <a:ext cx="7315200" cy="1051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109728" rtlCol="0" anchor="ctr"/>
          <a:lstStyle/>
          <a:p>
            <a:pPr algn="ctr">
              <a:defRPr sz="1100" b="1">
                <a:solidFill>
                  <a:srgbClr val="F59E0B"/>
                </a:solidFill>
              </a:defRPr>
            </a:pPr>
            <a:r>
              <a:rPr dirty="0"/>
              <a:t>💡 Core Value &amp; Financial Impact</a:t>
            </a:r>
          </a:p>
          <a:p>
            <a:pPr>
              <a:defRPr sz="1000">
                <a:solidFill>
                  <a:srgbClr val="64748B"/>
                </a:solidFill>
              </a:defRPr>
            </a:pPr>
            <a:r>
              <a:rPr dirty="0"/>
              <a:t>Eliminates guesswork in basal fertilizer application, avoids chemical soil degradation, and guides balanced NPK application.</a:t>
            </a:r>
          </a:p>
        </p:txBody>
      </p:sp>
      <p:sp>
        <p:nvSpPr>
          <p:cNvPr id="10" name="Rounded Rectangle 9"/>
          <p:cNvSpPr/>
          <p:nvPr/>
        </p:nvSpPr>
        <p:spPr>
          <a:xfrm>
            <a:off x="4114800" y="5760720"/>
            <a:ext cx="7315200" cy="411480"/>
          </a:xfrm>
          <a:prstGeom prst="roundRect">
            <a:avLst/>
          </a:prstGeom>
          <a:solidFill>
            <a:srgbClr val="ECFDF5"/>
          </a:solidFill>
          <a:ln>
            <a:solidFill>
              <a:srgbClr val="A7F3D0"/>
            </a:solidFill>
          </a:ln>
        </p:spPr>
        <p:style>
          <a:lnRef idx="1">
            <a:schemeClr val="accent1"/>
          </a:lnRef>
          <a:fillRef idx="3">
            <a:schemeClr val="accent1"/>
          </a:fillRef>
          <a:effectRef idx="2">
            <a:schemeClr val="accent1"/>
          </a:effectRef>
          <a:fontRef idx="minor">
            <a:schemeClr val="lt1"/>
          </a:fontRef>
        </p:style>
        <p:txBody>
          <a:bodyPr tIns="73152" rtlCol="0" anchor="ctr"/>
          <a:lstStyle/>
          <a:p>
            <a:pPr algn="ctr">
              <a:defRPr sz="1000" b="1">
                <a:solidFill>
                  <a:srgbClr val="059669"/>
                </a:solidFill>
              </a:defRPr>
            </a:pPr>
            <a:r>
              <a:rPr dirty="0"/>
              <a:t>Heritage Meets Machine Learning: Preserving traditional agricultural wisdom with </a:t>
            </a:r>
            <a:r>
              <a:rPr dirty="0" err="1"/>
              <a:t>XGBoost</a:t>
            </a:r>
            <a:r>
              <a:rPr dirty="0"/>
              <a:t> precision.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457200"/>
            <a:ext cx="10698480" cy="365760"/>
          </a:xfrm>
          <a:prstGeom prst="rect">
            <a:avLst/>
          </a:prstGeom>
          <a:noFill/>
        </p:spPr>
        <p:txBody>
          <a:bodyPr wrap="square" lIns="0" tIns="0" rIns="0" bIns="0">
            <a:spAutoFit/>
          </a:bodyPr>
          <a:lstStyle/>
          <a:p>
            <a:pPr>
              <a:defRPr sz="1100" b="1">
                <a:solidFill>
                  <a:srgbClr val="059669"/>
                </a:solidFill>
              </a:defRPr>
            </a:pPr>
            <a:r>
              <a:rPr dirty="0"/>
              <a:t>ACADEMIC GROUNDING</a:t>
            </a:r>
          </a:p>
        </p:txBody>
      </p:sp>
      <p:sp>
        <p:nvSpPr>
          <p:cNvPr id="3" name="TextBox 2"/>
          <p:cNvSpPr txBox="1"/>
          <p:nvPr/>
        </p:nvSpPr>
        <p:spPr>
          <a:xfrm>
            <a:off x="731520" y="777240"/>
            <a:ext cx="10698480" cy="548640"/>
          </a:xfrm>
          <a:prstGeom prst="rect">
            <a:avLst/>
          </a:prstGeom>
          <a:noFill/>
        </p:spPr>
        <p:txBody>
          <a:bodyPr wrap="square" lIns="0" tIns="0" rIns="0" bIns="0">
            <a:spAutoFit/>
          </a:bodyPr>
          <a:lstStyle/>
          <a:p>
            <a:pPr>
              <a:defRPr sz="2400" b="1">
                <a:solidFill>
                  <a:srgbClr val="0F172A"/>
                </a:solidFill>
              </a:defRPr>
            </a:pPr>
            <a:r>
              <a:rPr dirty="0"/>
              <a:t>5 Core Research Studies on Agricultural HCI &amp; Accessibility</a:t>
            </a:r>
          </a:p>
        </p:txBody>
      </p:sp>
      <p:sp>
        <p:nvSpPr>
          <p:cNvPr id="4" name="TextBox 3"/>
          <p:cNvSpPr txBox="1"/>
          <p:nvPr/>
        </p:nvSpPr>
        <p:spPr>
          <a:xfrm>
            <a:off x="731520" y="1325880"/>
            <a:ext cx="10698480" cy="365760"/>
          </a:xfrm>
          <a:prstGeom prst="rect">
            <a:avLst/>
          </a:prstGeom>
          <a:noFill/>
        </p:spPr>
        <p:txBody>
          <a:bodyPr wrap="square" lIns="0" tIns="0" rIns="0" bIns="0">
            <a:spAutoFit/>
          </a:bodyPr>
          <a:lstStyle/>
          <a:p>
            <a:pPr>
              <a:defRPr sz="1200">
                <a:solidFill>
                  <a:srgbClr val="64748B"/>
                </a:solidFill>
              </a:defRPr>
            </a:pPr>
            <a:r>
              <a:rPr dirty="0"/>
              <a:t>Theoretical frameworks and empirical literature validating </a:t>
            </a:r>
            <a:r>
              <a:rPr dirty="0" err="1"/>
              <a:t>AgriVision's</a:t>
            </a:r>
            <a:r>
              <a:rPr dirty="0"/>
              <a:t> user experience architecture.</a:t>
            </a:r>
          </a:p>
        </p:txBody>
      </p:sp>
      <p:sp>
        <p:nvSpPr>
          <p:cNvPr id="5" name="Rounded Rectangle 4"/>
          <p:cNvSpPr/>
          <p:nvPr/>
        </p:nvSpPr>
        <p:spPr>
          <a:xfrm>
            <a:off x="731520" y="1828800"/>
            <a:ext cx="10725912" cy="786384"/>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73152" rtlCol="0" anchor="ctr"/>
          <a:lstStyle/>
          <a:p>
            <a:pPr algn="ctr">
              <a:defRPr sz="1050" b="1">
                <a:solidFill>
                  <a:srgbClr val="059669"/>
                </a:solidFill>
              </a:defRPr>
            </a:pPr>
            <a:r>
              <a:rPr dirty="0"/>
              <a:t>1. Shneiderman (2016) — Designing the User Interface: Strategies for Effective HCI</a:t>
            </a:r>
          </a:p>
          <a:p>
            <a:pPr>
              <a:defRPr sz="950">
                <a:solidFill>
                  <a:srgbClr val="64748B"/>
                </a:solidFill>
              </a:defRPr>
            </a:pPr>
            <a:r>
              <a:rPr dirty="0"/>
              <a:t>Formulates the Eight Golden Rules of interface design. Proves that consistency, informative feedback, and cognitive load reduction boost task success by 45% among first-time digital users.  [Pearson Education | ACM Digital Library]</a:t>
            </a:r>
          </a:p>
        </p:txBody>
      </p:sp>
      <p:sp>
        <p:nvSpPr>
          <p:cNvPr id="6" name="Rounded Rectangle 5"/>
          <p:cNvSpPr/>
          <p:nvPr/>
        </p:nvSpPr>
        <p:spPr>
          <a:xfrm>
            <a:off x="731520" y="2697480"/>
            <a:ext cx="10725912" cy="786384"/>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73152" rtlCol="0" anchor="ctr"/>
          <a:lstStyle/>
          <a:p>
            <a:pPr algn="ctr">
              <a:defRPr sz="1050" b="1">
                <a:solidFill>
                  <a:srgbClr val="059669"/>
                </a:solidFill>
              </a:defRPr>
            </a:pPr>
            <a:r>
              <a:rPr dirty="0"/>
              <a:t>2. Medhi et al. (2007) — User Interfaces for Low-Literacy Users in Rural India</a:t>
            </a:r>
          </a:p>
          <a:p>
            <a:pPr>
              <a:defRPr sz="950">
                <a:solidFill>
                  <a:srgbClr val="64748B"/>
                </a:solidFill>
              </a:defRPr>
            </a:pPr>
            <a:r>
              <a:rPr dirty="0"/>
              <a:t>Empirical field trials demonstrate that speech-annotated pictorial interfaces outperform text-heavy web forms by 3.2x in comprehension and completion speed among rural Indian farmers.  [ACM Information &amp; Communication Technologies (ICTD)]</a:t>
            </a:r>
          </a:p>
        </p:txBody>
      </p:sp>
      <p:sp>
        <p:nvSpPr>
          <p:cNvPr id="7" name="Rounded Rectangle 6"/>
          <p:cNvSpPr/>
          <p:nvPr/>
        </p:nvSpPr>
        <p:spPr>
          <a:xfrm>
            <a:off x="731520" y="3566160"/>
            <a:ext cx="10725912" cy="786384"/>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73152" rtlCol="0" anchor="ctr"/>
          <a:lstStyle/>
          <a:p>
            <a:pPr algn="ctr">
              <a:defRPr sz="1050" b="1">
                <a:solidFill>
                  <a:srgbClr val="059669"/>
                </a:solidFill>
              </a:defRPr>
            </a:pPr>
            <a:r>
              <a:rPr dirty="0"/>
              <a:t>3. Mohanty et al. (2016) / </a:t>
            </a:r>
            <a:r>
              <a:rPr dirty="0" err="1"/>
              <a:t>PlantVillage</a:t>
            </a:r>
            <a:r>
              <a:rPr dirty="0"/>
              <a:t> — Deep Learning for Plant Disease Detection</a:t>
            </a:r>
          </a:p>
          <a:p>
            <a:pPr>
              <a:defRPr sz="950">
                <a:solidFill>
                  <a:srgbClr val="64748B"/>
                </a:solidFill>
              </a:defRPr>
            </a:pPr>
            <a:r>
              <a:rPr dirty="0"/>
              <a:t>Demonstrates that Convolutional Neural Networks (CNNs) achieve 99.35% diagnostic accuracy across 38 crop disease classes using smartphone leaf photography.  [Frontiers in Plant Science | doi:10.3389/fpls.2016.01419]</a:t>
            </a:r>
          </a:p>
        </p:txBody>
      </p:sp>
      <p:sp>
        <p:nvSpPr>
          <p:cNvPr id="8" name="Rounded Rectangle 7"/>
          <p:cNvSpPr/>
          <p:nvPr/>
        </p:nvSpPr>
        <p:spPr>
          <a:xfrm>
            <a:off x="731520" y="4434840"/>
            <a:ext cx="10725912" cy="786384"/>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73152" rtlCol="0" anchor="ctr"/>
          <a:lstStyle/>
          <a:p>
            <a:pPr algn="ctr">
              <a:defRPr sz="1050" b="1">
                <a:solidFill>
                  <a:srgbClr val="059669"/>
                </a:solidFill>
              </a:defRPr>
            </a:pPr>
            <a:r>
              <a:rPr dirty="0"/>
              <a:t>4. Chen &amp; </a:t>
            </a:r>
            <a:r>
              <a:rPr dirty="0" err="1"/>
              <a:t>Guestrin</a:t>
            </a:r>
            <a:r>
              <a:rPr dirty="0"/>
              <a:t> (2016) — </a:t>
            </a:r>
            <a:r>
              <a:rPr dirty="0" err="1"/>
              <a:t>XGBoost</a:t>
            </a:r>
            <a:r>
              <a:rPr dirty="0"/>
              <a:t>: A Scalable Tree Boosting System</a:t>
            </a:r>
          </a:p>
          <a:p>
            <a:pPr>
              <a:defRPr sz="950">
                <a:solidFill>
                  <a:srgbClr val="64748B"/>
                </a:solidFill>
              </a:defRPr>
            </a:pPr>
            <a:r>
              <a:rPr dirty="0"/>
              <a:t>Establishes gradient boosted decision trees as the premier machine learning algorithm for tabular multi-feature agricultural yield modeling, outperforming traditional linear regression by 28%.  [ACM SIGKDD Conference | doi:10.1145/2939672.2939785]</a:t>
            </a:r>
          </a:p>
        </p:txBody>
      </p:sp>
      <p:sp>
        <p:nvSpPr>
          <p:cNvPr id="9" name="Rounded Rectangle 8"/>
          <p:cNvSpPr/>
          <p:nvPr/>
        </p:nvSpPr>
        <p:spPr>
          <a:xfrm>
            <a:off x="731520" y="5303520"/>
            <a:ext cx="10725912" cy="786384"/>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73152" rtlCol="0" anchor="ctr"/>
          <a:lstStyle/>
          <a:p>
            <a:pPr algn="ctr">
              <a:defRPr sz="1050" b="1">
                <a:solidFill>
                  <a:srgbClr val="059669"/>
                </a:solidFill>
              </a:defRPr>
            </a:pPr>
            <a:r>
              <a:rPr dirty="0"/>
              <a:t>5. W3C / WAI (2023) — Web Content Accessibility Guidelines (WCAG 2.2)</a:t>
            </a:r>
          </a:p>
          <a:p>
            <a:pPr>
              <a:defRPr sz="950">
                <a:solidFill>
                  <a:srgbClr val="64748B"/>
                </a:solidFill>
              </a:defRPr>
            </a:pPr>
            <a:r>
              <a:rPr dirty="0"/>
              <a:t>Mandates non-color reliant cues (1.4.1), minimum contrast thresholds of 4.5:1 (1.4.3), and touch target dimensions &gt;= 48px to support motor, visual, and outdoor usability constraints.  [World Wide Web Consortium (W3C) Recommendation]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457200"/>
            <a:ext cx="10698480" cy="365760"/>
          </a:xfrm>
          <a:prstGeom prst="rect">
            <a:avLst/>
          </a:prstGeom>
          <a:noFill/>
        </p:spPr>
        <p:txBody>
          <a:bodyPr wrap="square" lIns="0" tIns="0" rIns="0" bIns="0">
            <a:spAutoFit/>
          </a:bodyPr>
          <a:lstStyle/>
          <a:p>
            <a:pPr>
              <a:defRPr sz="1100" b="1">
                <a:solidFill>
                  <a:srgbClr val="059669"/>
                </a:solidFill>
              </a:defRPr>
            </a:pPr>
            <a:r>
              <a:rPr dirty="0"/>
              <a:t>SYNTHESIS &amp; INNOVATION</a:t>
            </a:r>
          </a:p>
        </p:txBody>
      </p:sp>
      <p:sp>
        <p:nvSpPr>
          <p:cNvPr id="3" name="TextBox 2"/>
          <p:cNvSpPr txBox="1"/>
          <p:nvPr/>
        </p:nvSpPr>
        <p:spPr>
          <a:xfrm>
            <a:off x="731520" y="777240"/>
            <a:ext cx="10698480" cy="548640"/>
          </a:xfrm>
          <a:prstGeom prst="rect">
            <a:avLst/>
          </a:prstGeom>
          <a:noFill/>
        </p:spPr>
        <p:txBody>
          <a:bodyPr wrap="square" lIns="0" tIns="0" rIns="0" bIns="0">
            <a:spAutoFit/>
          </a:bodyPr>
          <a:lstStyle/>
          <a:p>
            <a:pPr>
              <a:defRPr sz="2400" b="1">
                <a:solidFill>
                  <a:srgbClr val="0F172A"/>
                </a:solidFill>
              </a:defRPr>
            </a:pPr>
            <a:r>
              <a:rPr dirty="0"/>
              <a:t>Research Gaps Identified &amp; How AgriVision Solves Them</a:t>
            </a:r>
          </a:p>
        </p:txBody>
      </p:sp>
      <p:sp>
        <p:nvSpPr>
          <p:cNvPr id="4" name="TextBox 3"/>
          <p:cNvSpPr txBox="1"/>
          <p:nvPr/>
        </p:nvSpPr>
        <p:spPr>
          <a:xfrm>
            <a:off x="762000" y="1325880"/>
            <a:ext cx="10698480" cy="365760"/>
          </a:xfrm>
          <a:prstGeom prst="rect">
            <a:avLst/>
          </a:prstGeom>
          <a:noFill/>
        </p:spPr>
        <p:txBody>
          <a:bodyPr wrap="square" lIns="0" tIns="0" rIns="0" bIns="0">
            <a:spAutoFit/>
          </a:bodyPr>
          <a:lstStyle/>
          <a:p>
            <a:pPr>
              <a:defRPr sz="1200">
                <a:solidFill>
                  <a:srgbClr val="64748B"/>
                </a:solidFill>
              </a:defRPr>
            </a:pPr>
            <a:r>
              <a:rPr dirty="0"/>
              <a:t>All cited gaps validated by our 8 field interviews and resolved directly in </a:t>
            </a:r>
            <a:r>
              <a:rPr dirty="0" err="1"/>
              <a:t>AgriVision's</a:t>
            </a:r>
            <a:r>
              <a:rPr dirty="0"/>
              <a:t> architecture.</a:t>
            </a:r>
          </a:p>
        </p:txBody>
      </p:sp>
      <p:sp>
        <p:nvSpPr>
          <p:cNvPr id="5" name="Rounded Rectangle 4"/>
          <p:cNvSpPr/>
          <p:nvPr/>
        </p:nvSpPr>
        <p:spPr>
          <a:xfrm>
            <a:off x="283464" y="1997964"/>
            <a:ext cx="3657600" cy="395935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182880" rIns="182880" rtlCol="0" anchor="ctr"/>
          <a:lstStyle/>
          <a:p>
            <a:r>
              <a:rPr sz="1600" dirty="0">
                <a:solidFill>
                  <a:schemeClr val="tx1"/>
                </a:solidFill>
              </a:rPr>
              <a:t>Diagnostic Tools Stop at Plant Pathology Names</a:t>
            </a:r>
          </a:p>
          <a:p>
            <a:br>
              <a:rPr sz="1600" dirty="0">
                <a:solidFill>
                  <a:schemeClr val="tx1"/>
                </a:solidFill>
              </a:rPr>
            </a:br>
            <a:r>
              <a:rPr sz="1600" dirty="0">
                <a:solidFill>
                  <a:schemeClr val="tx1"/>
                </a:solidFill>
              </a:rPr>
              <a:t>Existing scientific vision models output Latin pathogen names (e.g.,</a:t>
            </a:r>
            <a:r>
              <a:rPr lang="en-IN" sz="1600" dirty="0">
                <a:solidFill>
                  <a:schemeClr val="tx1"/>
                </a:solidFill>
              </a:rPr>
              <a:t> A</a:t>
            </a:r>
            <a:r>
              <a:rPr sz="1600" dirty="0" err="1">
                <a:solidFill>
                  <a:schemeClr val="tx1"/>
                </a:solidFill>
              </a:rPr>
              <a:t>lternaria</a:t>
            </a:r>
            <a:r>
              <a:rPr sz="1600" dirty="0">
                <a:solidFill>
                  <a:schemeClr val="tx1"/>
                </a:solidFill>
              </a:rPr>
              <a:t> </a:t>
            </a:r>
            <a:r>
              <a:rPr sz="1600" dirty="0" err="1">
                <a:solidFill>
                  <a:schemeClr val="tx1"/>
                </a:solidFill>
              </a:rPr>
              <a:t>solani</a:t>
            </a:r>
            <a:r>
              <a:rPr sz="1600" dirty="0">
                <a:solidFill>
                  <a:schemeClr val="tx1"/>
                </a:solidFill>
              </a:rPr>
              <a:t>) without translating them into local language remedies or exact pump dosages.</a:t>
            </a:r>
          </a:p>
          <a:p>
            <a:br>
              <a:rPr sz="1600" dirty="0">
                <a:solidFill>
                  <a:schemeClr val="tx1"/>
                </a:solidFill>
              </a:rPr>
            </a:br>
            <a:r>
              <a:rPr sz="1600" dirty="0">
                <a:solidFill>
                  <a:schemeClr val="tx1"/>
                </a:solidFill>
              </a:rPr>
              <a:t>AgriVision Fix: Instant translation into Marathi with exact milliliters per 15L pump and mandatory wetting sticker (</a:t>
            </a:r>
            <a:r>
              <a:rPr sz="1600" dirty="0" err="1">
                <a:solidFill>
                  <a:schemeClr val="tx1"/>
                </a:solidFill>
              </a:rPr>
              <a:t>गोंद</a:t>
            </a:r>
            <a:r>
              <a:rPr sz="1600" dirty="0">
                <a:solidFill>
                  <a:schemeClr val="tx1"/>
                </a:solidFill>
              </a:rPr>
              <a:t>) advice.</a:t>
            </a:r>
          </a:p>
        </p:txBody>
      </p:sp>
      <p:sp>
        <p:nvSpPr>
          <p:cNvPr id="6" name="Rounded Rectangle 5"/>
          <p:cNvSpPr/>
          <p:nvPr/>
        </p:nvSpPr>
        <p:spPr>
          <a:xfrm>
            <a:off x="4256532" y="1906524"/>
            <a:ext cx="3474720" cy="41148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182880" rIns="182880" rtlCol="0" anchor="ctr"/>
          <a:lstStyle/>
          <a:p>
            <a:r>
              <a:rPr lang="en-US" sz="1600" dirty="0">
                <a:solidFill>
                  <a:schemeClr val="tx1"/>
                </a:solidFill>
              </a:rPr>
              <a:t>Market Systems Show Static, Delayed Price Tables</a:t>
            </a:r>
          </a:p>
          <a:p>
            <a:br>
              <a:rPr lang="en-US" sz="1600" dirty="0">
                <a:solidFill>
                  <a:schemeClr val="tx1"/>
                </a:solidFill>
              </a:rPr>
            </a:br>
            <a:r>
              <a:rPr lang="en-US" sz="1600" dirty="0">
                <a:solidFill>
                  <a:schemeClr val="tx1"/>
                </a:solidFill>
              </a:rPr>
              <a:t>State portals display yesterday's prices in static tables with no forward forecasting or cross-mandi comparison, leaving farmers vulnerable to sudden crashes.</a:t>
            </a:r>
          </a:p>
          <a:p>
            <a:br>
              <a:rPr lang="en-US" sz="1600" dirty="0">
                <a:solidFill>
                  <a:schemeClr val="tx1"/>
                </a:solidFill>
              </a:rPr>
            </a:br>
            <a:r>
              <a:rPr lang="en-US" sz="1600" dirty="0">
                <a:solidFill>
                  <a:schemeClr val="tx1"/>
                </a:solidFill>
              </a:rPr>
              <a:t>AgriVision Fix: Real-time 8 APMC comparison matrix with positive/negative spreads and 7-day projected price momentum curves.</a:t>
            </a:r>
          </a:p>
          <a:p>
            <a:pPr algn="ctr">
              <a:defRPr sz="900" b="1">
                <a:solidFill>
                  <a:srgbClr val="F59E0B"/>
                </a:solidFill>
              </a:defRPr>
            </a:pPr>
            <a:endParaRPr sz="800" dirty="0">
              <a:solidFill>
                <a:schemeClr val="tx1"/>
              </a:solidFill>
            </a:endParaRPr>
          </a:p>
        </p:txBody>
      </p:sp>
      <p:sp>
        <p:nvSpPr>
          <p:cNvPr id="7" name="Rounded Rectangle 6"/>
          <p:cNvSpPr/>
          <p:nvPr/>
        </p:nvSpPr>
        <p:spPr>
          <a:xfrm>
            <a:off x="8046720" y="1920240"/>
            <a:ext cx="3474720" cy="41148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182880" rIns="182880" rtlCol="0" anchor="ctr"/>
          <a:lstStyle/>
          <a:p>
            <a:r>
              <a:rPr sz="1600" dirty="0">
                <a:solidFill>
                  <a:schemeClr val="tx1"/>
                </a:solidFill>
              </a:rPr>
              <a:t>Monolingual English &amp; Complex Data Entry</a:t>
            </a:r>
          </a:p>
          <a:p>
            <a:br>
              <a:rPr sz="1600" dirty="0">
                <a:solidFill>
                  <a:schemeClr val="tx1"/>
                </a:solidFill>
              </a:rPr>
            </a:br>
            <a:r>
              <a:rPr sz="1600" dirty="0">
                <a:solidFill>
                  <a:schemeClr val="tx1"/>
                </a:solidFill>
              </a:rPr>
              <a:t>Existing crop recommendation engines require manual entry of 14 complex chemical coordinates (N, P, K ppm, pH), completely alienating non-technical farmers.</a:t>
            </a:r>
          </a:p>
          <a:p>
            <a:br>
              <a:rPr sz="1600" dirty="0">
                <a:solidFill>
                  <a:schemeClr val="tx1"/>
                </a:solidFill>
              </a:rPr>
            </a:br>
            <a:r>
              <a:rPr sz="1600" dirty="0">
                <a:solidFill>
                  <a:schemeClr val="tx1"/>
                </a:solidFill>
              </a:rPr>
              <a:t>AgriVision Fix: 4 one-tap soil &amp; water presets + native Marathi text-to-speech and microphone voice assistance.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457200"/>
            <a:ext cx="10698480" cy="365760"/>
          </a:xfrm>
          <a:prstGeom prst="rect">
            <a:avLst/>
          </a:prstGeom>
          <a:noFill/>
        </p:spPr>
        <p:txBody>
          <a:bodyPr wrap="square" lIns="0" tIns="0" rIns="0" bIns="0">
            <a:spAutoFit/>
          </a:bodyPr>
          <a:lstStyle/>
          <a:p>
            <a:pPr>
              <a:defRPr sz="1100" b="1">
                <a:solidFill>
                  <a:srgbClr val="059669"/>
                </a:solidFill>
              </a:defRPr>
            </a:pPr>
            <a:r>
              <a:rPr dirty="0"/>
              <a:t>MACHINE LEARNING ECOSYSTEM</a:t>
            </a:r>
          </a:p>
        </p:txBody>
      </p:sp>
      <p:sp>
        <p:nvSpPr>
          <p:cNvPr id="3" name="TextBox 2"/>
          <p:cNvSpPr txBox="1"/>
          <p:nvPr/>
        </p:nvSpPr>
        <p:spPr>
          <a:xfrm>
            <a:off x="731520" y="777240"/>
            <a:ext cx="10698480" cy="548640"/>
          </a:xfrm>
          <a:prstGeom prst="rect">
            <a:avLst/>
          </a:prstGeom>
          <a:noFill/>
        </p:spPr>
        <p:txBody>
          <a:bodyPr wrap="square" lIns="0" tIns="0" rIns="0" bIns="0">
            <a:spAutoFit/>
          </a:bodyPr>
          <a:lstStyle/>
          <a:p>
            <a:pPr>
              <a:defRPr sz="2400" b="1">
                <a:solidFill>
                  <a:srgbClr val="0F172A"/>
                </a:solidFill>
              </a:defRPr>
            </a:pPr>
            <a:r>
              <a:rPr dirty="0"/>
              <a:t>The 3 Machine Learning Models &amp; Cognitive AI Layer</a:t>
            </a:r>
          </a:p>
        </p:txBody>
      </p:sp>
      <p:sp>
        <p:nvSpPr>
          <p:cNvPr id="4" name="TextBox 3"/>
          <p:cNvSpPr txBox="1"/>
          <p:nvPr/>
        </p:nvSpPr>
        <p:spPr>
          <a:xfrm>
            <a:off x="731520" y="1325880"/>
            <a:ext cx="10698480" cy="365760"/>
          </a:xfrm>
          <a:prstGeom prst="rect">
            <a:avLst/>
          </a:prstGeom>
          <a:noFill/>
        </p:spPr>
        <p:txBody>
          <a:bodyPr wrap="square" lIns="0" tIns="0" rIns="0" bIns="0">
            <a:spAutoFit/>
          </a:bodyPr>
          <a:lstStyle/>
          <a:p>
            <a:pPr>
              <a:defRPr sz="1200">
                <a:solidFill>
                  <a:srgbClr val="64748B"/>
                </a:solidFill>
              </a:defRPr>
            </a:pPr>
            <a:r>
              <a:rPr dirty="0"/>
              <a:t>Tri-engine intelligence stack orchestrating computer vision, tabular gradient boosting, and time-series econometrics.</a:t>
            </a:r>
          </a:p>
        </p:txBody>
      </p:sp>
      <p:sp>
        <p:nvSpPr>
          <p:cNvPr id="5" name="Rounded Rectangle 4"/>
          <p:cNvSpPr/>
          <p:nvPr/>
        </p:nvSpPr>
        <p:spPr>
          <a:xfrm>
            <a:off x="731520" y="1920240"/>
            <a:ext cx="2560320" cy="41148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182880" rIns="182880" rtlCol="0" anchor="ctr"/>
          <a:lstStyle/>
          <a:p>
            <a:pPr algn="ctr">
              <a:defRPr sz="1300" b="1">
                <a:solidFill>
                  <a:srgbClr val="0F172A"/>
                </a:solidFill>
              </a:defRPr>
            </a:pPr>
            <a:r>
              <a:rPr sz="1050" dirty="0">
                <a:solidFill>
                  <a:schemeClr val="tx1"/>
                </a:solidFill>
              </a:rPr>
              <a:t>🌾 Model 1: Crop Yield Regressor</a:t>
            </a:r>
            <a:endParaRPr sz="700" dirty="0">
              <a:solidFill>
                <a:schemeClr val="tx1"/>
              </a:solidFill>
            </a:endParaRPr>
          </a:p>
          <a:p>
            <a:br>
              <a:rPr sz="1200" dirty="0">
                <a:solidFill>
                  <a:schemeClr val="tx1"/>
                </a:solidFill>
              </a:rPr>
            </a:br>
            <a:r>
              <a:rPr sz="1200" dirty="0">
                <a:solidFill>
                  <a:schemeClr val="tx1"/>
                </a:solidFill>
              </a:rPr>
              <a:t>Algorithm: </a:t>
            </a:r>
            <a:r>
              <a:rPr sz="1200" dirty="0" err="1">
                <a:solidFill>
                  <a:schemeClr val="tx1"/>
                </a:solidFill>
              </a:rPr>
              <a:t>XGBoost</a:t>
            </a:r>
            <a:r>
              <a:rPr sz="1200" dirty="0">
                <a:solidFill>
                  <a:schemeClr val="tx1"/>
                </a:solidFill>
              </a:rPr>
              <a:t> Regressor (</a:t>
            </a:r>
            <a:r>
              <a:rPr sz="1200" dirty="0" err="1">
                <a:solidFill>
                  <a:schemeClr val="tx1"/>
                </a:solidFill>
              </a:rPr>
              <a:t>XGBRegressor</a:t>
            </a:r>
            <a:r>
              <a:rPr sz="1200" dirty="0">
                <a:solidFill>
                  <a:schemeClr val="tx1"/>
                </a:solidFill>
              </a:rPr>
              <a:t>) + Scikit-Learn </a:t>
            </a:r>
            <a:r>
              <a:rPr sz="1200" dirty="0" err="1">
                <a:solidFill>
                  <a:schemeClr val="tx1"/>
                </a:solidFill>
              </a:rPr>
              <a:t>ColumnTransformer</a:t>
            </a:r>
            <a:r>
              <a:rPr sz="1200" dirty="0">
                <a:solidFill>
                  <a:schemeClr val="tx1"/>
                </a:solidFill>
              </a:rPr>
              <a:t> Pipeline.</a:t>
            </a:r>
            <a:br>
              <a:rPr sz="1200" dirty="0">
                <a:solidFill>
                  <a:schemeClr val="tx1"/>
                </a:solidFill>
              </a:rPr>
            </a:br>
            <a:br>
              <a:rPr sz="1200" dirty="0">
                <a:solidFill>
                  <a:schemeClr val="tx1"/>
                </a:solidFill>
              </a:rPr>
            </a:br>
            <a:r>
              <a:rPr sz="1200" dirty="0">
                <a:solidFill>
                  <a:schemeClr val="tx1"/>
                </a:solidFill>
              </a:rPr>
              <a:t>Dataset: 50,765 Indian agricultural field records.</a:t>
            </a:r>
            <a:br>
              <a:rPr sz="1200" dirty="0">
                <a:solidFill>
                  <a:schemeClr val="tx1"/>
                </a:solidFill>
              </a:rPr>
            </a:br>
            <a:r>
              <a:rPr sz="1200" dirty="0">
                <a:solidFill>
                  <a:schemeClr val="tx1"/>
                </a:solidFill>
              </a:rPr>
              <a:t>Input: 20 features (14 numeric: pH, N, P, K, rain, temp, moisture + 6 categorical: soil, crop, village).</a:t>
            </a:r>
            <a:br>
              <a:rPr sz="1200" dirty="0">
                <a:solidFill>
                  <a:schemeClr val="tx1"/>
                </a:solidFill>
              </a:rPr>
            </a:br>
            <a:r>
              <a:rPr sz="1200" dirty="0">
                <a:solidFill>
                  <a:schemeClr val="tx1"/>
                </a:solidFill>
              </a:rPr>
              <a:t>Output: Predicted yield in quintals/hectare &amp; ranked suitability score.</a:t>
            </a:r>
          </a:p>
        </p:txBody>
      </p:sp>
      <p:sp>
        <p:nvSpPr>
          <p:cNvPr id="6" name="Rounded Rectangle 5"/>
          <p:cNvSpPr/>
          <p:nvPr/>
        </p:nvSpPr>
        <p:spPr>
          <a:xfrm>
            <a:off x="3456432" y="1920240"/>
            <a:ext cx="2560320" cy="41148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182880" rIns="182880" rtlCol="0" anchor="ctr"/>
          <a:lstStyle/>
          <a:p>
            <a:pPr algn="ctr">
              <a:defRPr sz="1300" b="1">
                <a:solidFill>
                  <a:srgbClr val="0F172A"/>
                </a:solidFill>
              </a:defRPr>
            </a:pPr>
            <a:r>
              <a:rPr sz="1050" dirty="0">
                <a:solidFill>
                  <a:schemeClr val="tx1"/>
                </a:solidFill>
              </a:rPr>
              <a:t>📸 Model 2: Plant Disease Classifier</a:t>
            </a:r>
          </a:p>
          <a:p>
            <a:pPr>
              <a:defRPr sz="950" b="1">
                <a:solidFill>
                  <a:srgbClr val="059669"/>
                </a:solidFill>
              </a:defRPr>
            </a:pPr>
            <a:r>
              <a:rPr sz="700" dirty="0">
                <a:solidFill>
                  <a:schemeClr val="tx1"/>
                </a:solidFill>
              </a:rPr>
              <a:t>Deep Convolutional Neural Network</a:t>
            </a:r>
          </a:p>
          <a:p>
            <a:br>
              <a:rPr sz="1200" dirty="0">
                <a:solidFill>
                  <a:schemeClr val="tx1"/>
                </a:solidFill>
              </a:rPr>
            </a:br>
            <a:r>
              <a:rPr sz="1200" dirty="0">
                <a:solidFill>
                  <a:schemeClr val="tx1"/>
                </a:solidFill>
              </a:rPr>
              <a:t>Architecture: Deep CNN with </a:t>
            </a:r>
            <a:r>
              <a:rPr sz="1200" dirty="0" err="1">
                <a:solidFill>
                  <a:schemeClr val="tx1"/>
                </a:solidFill>
              </a:rPr>
              <a:t>MobileNet</a:t>
            </a:r>
            <a:r>
              <a:rPr sz="1200" dirty="0">
                <a:solidFill>
                  <a:schemeClr val="tx1"/>
                </a:solidFill>
              </a:rPr>
              <a:t>/</a:t>
            </a:r>
            <a:r>
              <a:rPr sz="1200" dirty="0" err="1">
                <a:solidFill>
                  <a:schemeClr val="tx1"/>
                </a:solidFill>
              </a:rPr>
              <a:t>ResNet</a:t>
            </a:r>
            <a:r>
              <a:rPr sz="1200" dirty="0">
                <a:solidFill>
                  <a:schemeClr val="tx1"/>
                </a:solidFill>
              </a:rPr>
              <a:t> transfer learning backbone.</a:t>
            </a:r>
            <a:br>
              <a:rPr sz="1200" dirty="0">
                <a:solidFill>
                  <a:schemeClr val="tx1"/>
                </a:solidFill>
              </a:rPr>
            </a:br>
            <a:br>
              <a:rPr sz="1200" dirty="0">
                <a:solidFill>
                  <a:schemeClr val="tx1"/>
                </a:solidFill>
              </a:rPr>
            </a:br>
            <a:r>
              <a:rPr sz="1200" dirty="0">
                <a:solidFill>
                  <a:schemeClr val="tx1"/>
                </a:solidFill>
              </a:rPr>
              <a:t>Scope: 38 crop disease classes (Early/Late Blight, Leaf Curl, Rust, Bacterial Spot).</a:t>
            </a:r>
            <a:br>
              <a:rPr sz="1200" dirty="0">
                <a:solidFill>
                  <a:schemeClr val="tx1"/>
                </a:solidFill>
              </a:rPr>
            </a:br>
            <a:r>
              <a:rPr sz="1200" dirty="0">
                <a:solidFill>
                  <a:schemeClr val="tx1"/>
                </a:solidFill>
              </a:rPr>
              <a:t>Input: RGB leaf photograph (224x224).</a:t>
            </a:r>
            <a:br>
              <a:rPr sz="1200" dirty="0">
                <a:solidFill>
                  <a:schemeClr val="tx1"/>
                </a:solidFill>
              </a:rPr>
            </a:br>
            <a:r>
              <a:rPr sz="1200" dirty="0">
                <a:solidFill>
                  <a:schemeClr val="tx1"/>
                </a:solidFill>
              </a:rPr>
              <a:t>Output: Pathogen diagnosis, confidence score, and severity grade.</a:t>
            </a:r>
          </a:p>
        </p:txBody>
      </p:sp>
      <p:sp>
        <p:nvSpPr>
          <p:cNvPr id="7" name="Rounded Rectangle 6"/>
          <p:cNvSpPr/>
          <p:nvPr/>
        </p:nvSpPr>
        <p:spPr>
          <a:xfrm>
            <a:off x="6181344" y="1920240"/>
            <a:ext cx="2560320" cy="41148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182880" rIns="182880" rtlCol="0" anchor="ctr"/>
          <a:lstStyle/>
          <a:p>
            <a:pPr algn="ctr">
              <a:defRPr sz="1300" b="1">
                <a:solidFill>
                  <a:srgbClr val="0F172A"/>
                </a:solidFill>
              </a:defRPr>
            </a:pPr>
            <a:r>
              <a:rPr sz="1050" dirty="0">
                <a:solidFill>
                  <a:schemeClr val="tx1"/>
                </a:solidFill>
              </a:rPr>
              <a:t>📈 Model 3: APMC Market Forecaster</a:t>
            </a:r>
          </a:p>
          <a:p>
            <a:pPr>
              <a:defRPr sz="950" b="1">
                <a:solidFill>
                  <a:srgbClr val="059669"/>
                </a:solidFill>
              </a:defRPr>
            </a:pPr>
            <a:r>
              <a:rPr sz="700" dirty="0">
                <a:solidFill>
                  <a:schemeClr val="tx1"/>
                </a:solidFill>
              </a:rPr>
              <a:t>Time-Series Econometric Engine</a:t>
            </a:r>
          </a:p>
          <a:p>
            <a:br>
              <a:rPr sz="1200" dirty="0">
                <a:solidFill>
                  <a:schemeClr val="tx1"/>
                </a:solidFill>
              </a:rPr>
            </a:br>
            <a:r>
              <a:rPr sz="1200" dirty="0">
                <a:solidFill>
                  <a:schemeClr val="tx1"/>
                </a:solidFill>
              </a:rPr>
              <a:t>Method: Multi-factor momentum, arrival volatility, and seasonal drift forecasting.</a:t>
            </a:r>
            <a:br>
              <a:rPr sz="1200" dirty="0">
                <a:solidFill>
                  <a:schemeClr val="tx1"/>
                </a:solidFill>
              </a:rPr>
            </a:br>
            <a:br>
              <a:rPr sz="1200" dirty="0">
                <a:solidFill>
                  <a:schemeClr val="tx1"/>
                </a:solidFill>
              </a:rPr>
            </a:br>
            <a:r>
              <a:rPr sz="1200" dirty="0">
                <a:solidFill>
                  <a:schemeClr val="tx1"/>
                </a:solidFill>
              </a:rPr>
              <a:t>Scope: 8 Pune APMC Mandis (Pune, </a:t>
            </a:r>
            <a:r>
              <a:rPr sz="1200" dirty="0" err="1">
                <a:solidFill>
                  <a:schemeClr val="tx1"/>
                </a:solidFill>
              </a:rPr>
              <a:t>Narayangaon</a:t>
            </a:r>
            <a:r>
              <a:rPr sz="1200" dirty="0">
                <a:solidFill>
                  <a:schemeClr val="tx1"/>
                </a:solidFill>
              </a:rPr>
              <a:t>, Chakan, Baramati, etc.) across 10 cash crops.</a:t>
            </a:r>
            <a:br>
              <a:rPr sz="1200" dirty="0">
                <a:solidFill>
                  <a:schemeClr val="tx1"/>
                </a:solidFill>
              </a:rPr>
            </a:br>
            <a:r>
              <a:rPr sz="1200" dirty="0">
                <a:solidFill>
                  <a:schemeClr val="tx1"/>
                </a:solidFill>
              </a:rPr>
              <a:t>Output: 7-day forward horizon price projections and cross-mandi arbitrage spreads.</a:t>
            </a:r>
          </a:p>
        </p:txBody>
      </p:sp>
      <p:sp>
        <p:nvSpPr>
          <p:cNvPr id="8" name="Rounded Rectangle 7"/>
          <p:cNvSpPr/>
          <p:nvPr/>
        </p:nvSpPr>
        <p:spPr>
          <a:xfrm>
            <a:off x="8906256" y="1920240"/>
            <a:ext cx="2560320" cy="41148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182880" rIns="182880" rtlCol="0" anchor="ctr"/>
          <a:lstStyle/>
          <a:p>
            <a:pPr algn="ctr">
              <a:defRPr sz="1300" b="1">
                <a:solidFill>
                  <a:srgbClr val="0F172A"/>
                </a:solidFill>
              </a:defRPr>
            </a:pPr>
            <a:r>
              <a:rPr sz="1050" dirty="0">
                <a:solidFill>
                  <a:schemeClr val="tx1"/>
                </a:solidFill>
              </a:rPr>
              <a:t>🤖 Cognitive Layer: AgriVision LLM</a:t>
            </a:r>
          </a:p>
          <a:p>
            <a:pPr>
              <a:defRPr sz="950" b="1">
                <a:solidFill>
                  <a:srgbClr val="059669"/>
                </a:solidFill>
              </a:defRPr>
            </a:pPr>
            <a:r>
              <a:rPr sz="700" dirty="0">
                <a:solidFill>
                  <a:schemeClr val="tx1"/>
                </a:solidFill>
              </a:rPr>
              <a:t>Google Gemini Generative AI</a:t>
            </a:r>
          </a:p>
          <a:p>
            <a:br>
              <a:rPr sz="1200" dirty="0">
                <a:solidFill>
                  <a:schemeClr val="tx1"/>
                </a:solidFill>
              </a:rPr>
            </a:br>
            <a:r>
              <a:rPr sz="1200" dirty="0">
                <a:solidFill>
                  <a:schemeClr val="tx1"/>
                </a:solidFill>
              </a:rPr>
              <a:t>Model: </a:t>
            </a:r>
            <a:r>
              <a:rPr sz="1200" dirty="0" err="1">
                <a:solidFill>
                  <a:schemeClr val="tx1"/>
                </a:solidFill>
              </a:rPr>
              <a:t>gemini</a:t>
            </a:r>
            <a:r>
              <a:rPr sz="1200" dirty="0">
                <a:solidFill>
                  <a:schemeClr val="tx1"/>
                </a:solidFill>
              </a:rPr>
              <a:t>-flash-lite-latest with structured system instruction persona.</a:t>
            </a:r>
            <a:br>
              <a:rPr sz="1200" dirty="0">
                <a:solidFill>
                  <a:schemeClr val="tx1"/>
                </a:solidFill>
              </a:rPr>
            </a:br>
            <a:br>
              <a:rPr sz="1200" dirty="0">
                <a:solidFill>
                  <a:schemeClr val="tx1"/>
                </a:solidFill>
              </a:rPr>
            </a:br>
            <a:r>
              <a:rPr sz="1200" dirty="0">
                <a:solidFill>
                  <a:schemeClr val="tx1"/>
                </a:solidFill>
              </a:rPr>
              <a:t>Capability: Conversational Marathi &amp; English agronomy reasoning with exact 15L pump chemical/organic dosages.</a:t>
            </a:r>
            <a:br>
              <a:rPr sz="1200" dirty="0">
                <a:solidFill>
                  <a:schemeClr val="tx1"/>
                </a:solidFill>
              </a:rPr>
            </a:br>
            <a:r>
              <a:rPr sz="1200" dirty="0">
                <a:solidFill>
                  <a:schemeClr val="tx1"/>
                </a:solidFill>
              </a:rPr>
              <a:t>Resilience: Offline Pune agronomy knowledge base fallback.</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457200"/>
            <a:ext cx="10698480" cy="365760"/>
          </a:xfrm>
          <a:prstGeom prst="rect">
            <a:avLst/>
          </a:prstGeom>
          <a:noFill/>
        </p:spPr>
        <p:txBody>
          <a:bodyPr wrap="square" lIns="0" tIns="0" rIns="0" bIns="0">
            <a:spAutoFit/>
          </a:bodyPr>
          <a:lstStyle/>
          <a:p>
            <a:pPr>
              <a:defRPr sz="1100" b="1">
                <a:solidFill>
                  <a:srgbClr val="059669"/>
                </a:solidFill>
              </a:defRPr>
            </a:pPr>
            <a:r>
              <a:rPr dirty="0"/>
              <a:t>DESIGNED PROTOTYPE</a:t>
            </a:r>
          </a:p>
        </p:txBody>
      </p:sp>
      <p:sp>
        <p:nvSpPr>
          <p:cNvPr id="3" name="TextBox 2"/>
          <p:cNvSpPr txBox="1"/>
          <p:nvPr/>
        </p:nvSpPr>
        <p:spPr>
          <a:xfrm>
            <a:off x="731520" y="777240"/>
            <a:ext cx="10698480" cy="548640"/>
          </a:xfrm>
          <a:prstGeom prst="rect">
            <a:avLst/>
          </a:prstGeom>
          <a:noFill/>
        </p:spPr>
        <p:txBody>
          <a:bodyPr wrap="square" lIns="0" tIns="0" rIns="0" bIns="0">
            <a:spAutoFit/>
          </a:bodyPr>
          <a:lstStyle/>
          <a:p>
            <a:pPr>
              <a:defRPr sz="2400" b="1">
                <a:solidFill>
                  <a:srgbClr val="0F172A"/>
                </a:solidFill>
              </a:defRPr>
            </a:pPr>
            <a:r>
              <a:rPr dirty="0"/>
              <a:t>Core Functional Screens &amp; Usability Ergonomics</a:t>
            </a:r>
          </a:p>
        </p:txBody>
      </p:sp>
      <p:sp>
        <p:nvSpPr>
          <p:cNvPr id="4" name="TextBox 3"/>
          <p:cNvSpPr txBox="1"/>
          <p:nvPr/>
        </p:nvSpPr>
        <p:spPr>
          <a:xfrm>
            <a:off x="731520" y="1325880"/>
            <a:ext cx="10698480" cy="365760"/>
          </a:xfrm>
          <a:prstGeom prst="rect">
            <a:avLst/>
          </a:prstGeom>
          <a:noFill/>
        </p:spPr>
        <p:txBody>
          <a:bodyPr wrap="square" lIns="0" tIns="0" rIns="0" bIns="0">
            <a:spAutoFit/>
          </a:bodyPr>
          <a:lstStyle/>
          <a:p>
            <a:pPr>
              <a:defRPr sz="1200">
                <a:solidFill>
                  <a:srgbClr val="64748B"/>
                </a:solidFill>
              </a:defRPr>
            </a:pPr>
            <a:r>
              <a:rPr dirty="0"/>
              <a:t>Interactive React 19 single-page application built with Tailwind CSS, Devanagari typography, and voice integration.</a:t>
            </a:r>
          </a:p>
        </p:txBody>
      </p:sp>
      <p:sp>
        <p:nvSpPr>
          <p:cNvPr id="5" name="Rounded Rectangle 4"/>
          <p:cNvSpPr/>
          <p:nvPr/>
        </p:nvSpPr>
        <p:spPr>
          <a:xfrm>
            <a:off x="731520" y="1920240"/>
            <a:ext cx="5257800" cy="19202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137160" rtlCol="0" anchor="ctr"/>
          <a:lstStyle/>
          <a:p>
            <a:pPr algn="ctr">
              <a:defRPr sz="1300" b="1">
                <a:solidFill>
                  <a:srgbClr val="0F172A"/>
                </a:solidFill>
              </a:defRPr>
            </a:pPr>
            <a:r>
              <a:rPr sz="1100" dirty="0">
                <a:solidFill>
                  <a:schemeClr val="tx1"/>
                </a:solidFill>
              </a:rPr>
              <a:t>🌾 1. Farm Overview Dashboard (dashboard)</a:t>
            </a:r>
          </a:p>
          <a:p>
            <a:br>
              <a:rPr sz="1400" dirty="0">
                <a:solidFill>
                  <a:schemeClr val="tx1"/>
                </a:solidFill>
              </a:rPr>
            </a:br>
            <a:r>
              <a:rPr sz="1400" dirty="0">
                <a:solidFill>
                  <a:schemeClr val="tx1"/>
                </a:solidFill>
              </a:rPr>
              <a:t>• Live Pune weather &amp; safe spray window ('Best before 9 AM').</a:t>
            </a:r>
            <a:br>
              <a:rPr sz="1400" dirty="0">
                <a:solidFill>
                  <a:schemeClr val="tx1"/>
                </a:solidFill>
              </a:rPr>
            </a:br>
            <a:r>
              <a:rPr sz="1400" dirty="0">
                <a:solidFill>
                  <a:schemeClr val="tx1"/>
                </a:solidFill>
              </a:rPr>
              <a:t>• 4 one-tap soil &amp; water presets eliminating 14 numeric inputs.</a:t>
            </a:r>
            <a:br>
              <a:rPr sz="1400" dirty="0">
                <a:solidFill>
                  <a:schemeClr val="tx1"/>
                </a:solidFill>
              </a:rPr>
            </a:br>
            <a:r>
              <a:rPr sz="1400" dirty="0">
                <a:solidFill>
                  <a:schemeClr val="tx1"/>
                </a:solidFill>
              </a:rPr>
              <a:t>• ML crop yield prediction showing #1 Trophy Card in quintals/acre.</a:t>
            </a:r>
            <a:br>
              <a:rPr sz="1400" dirty="0">
                <a:solidFill>
                  <a:schemeClr val="tx1"/>
                </a:solidFill>
              </a:rPr>
            </a:br>
            <a:r>
              <a:rPr sz="1400" dirty="0">
                <a:solidFill>
                  <a:schemeClr val="tx1"/>
                </a:solidFill>
              </a:rPr>
              <a:t>• </a:t>
            </a:r>
            <a:r>
              <a:rPr sz="1400" dirty="0" err="1">
                <a:solidFill>
                  <a:schemeClr val="tx1"/>
                </a:solidFill>
              </a:rPr>
              <a:t>VoiceSpeakerButton</a:t>
            </a:r>
            <a:r>
              <a:rPr sz="1400" dirty="0">
                <a:solidFill>
                  <a:schemeClr val="tx1"/>
                </a:solidFill>
              </a:rPr>
              <a:t> reading overview aloud in Marathi</a:t>
            </a:r>
            <a:r>
              <a:rPr dirty="0">
                <a:solidFill>
                  <a:schemeClr val="tx1"/>
                </a:solidFill>
              </a:rPr>
              <a:t>.</a:t>
            </a:r>
          </a:p>
        </p:txBody>
      </p:sp>
      <p:sp>
        <p:nvSpPr>
          <p:cNvPr id="6" name="Rounded Rectangle 5"/>
          <p:cNvSpPr/>
          <p:nvPr/>
        </p:nvSpPr>
        <p:spPr>
          <a:xfrm>
            <a:off x="6172200" y="1920240"/>
            <a:ext cx="5257800" cy="19202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137160" rtlCol="0" anchor="ctr"/>
          <a:lstStyle/>
          <a:p>
            <a:pPr algn="ctr">
              <a:defRPr sz="1300" b="1">
                <a:solidFill>
                  <a:srgbClr val="0F172A"/>
                </a:solidFill>
              </a:defRPr>
            </a:pPr>
            <a:r>
              <a:rPr sz="1100" dirty="0">
                <a:solidFill>
                  <a:schemeClr val="tx1"/>
                </a:solidFill>
              </a:rPr>
              <a:t>📈 2. Pune APMC Mandi Tracker (markets)</a:t>
            </a:r>
          </a:p>
          <a:p>
            <a:br>
              <a:rPr sz="1400" dirty="0">
                <a:solidFill>
                  <a:schemeClr val="tx1"/>
                </a:solidFill>
              </a:rPr>
            </a:br>
            <a:r>
              <a:rPr sz="1400" dirty="0">
                <a:solidFill>
                  <a:schemeClr val="tx1"/>
                </a:solidFill>
              </a:rPr>
              <a:t>• 8 Pune district APMCs (Pune, </a:t>
            </a:r>
            <a:r>
              <a:rPr sz="1400" dirty="0" err="1">
                <a:solidFill>
                  <a:schemeClr val="tx1"/>
                </a:solidFill>
              </a:rPr>
              <a:t>Narayangaon</a:t>
            </a:r>
            <a:r>
              <a:rPr sz="1400" dirty="0">
                <a:solidFill>
                  <a:schemeClr val="tx1"/>
                </a:solidFill>
              </a:rPr>
              <a:t>, Chakan, Baramati).</a:t>
            </a:r>
            <a:br>
              <a:rPr sz="1400" dirty="0">
                <a:solidFill>
                  <a:schemeClr val="tx1"/>
                </a:solidFill>
              </a:rPr>
            </a:br>
            <a:r>
              <a:rPr sz="1400" dirty="0">
                <a:solidFill>
                  <a:schemeClr val="tx1"/>
                </a:solidFill>
              </a:rPr>
              <a:t>• Responsive dual-zone SVG </a:t>
            </a:r>
            <a:r>
              <a:rPr sz="1400" dirty="0" err="1">
                <a:solidFill>
                  <a:schemeClr val="tx1"/>
                </a:solidFill>
              </a:rPr>
              <a:t>Bézier</a:t>
            </a:r>
            <a:r>
              <a:rPr sz="1400" dirty="0">
                <a:solidFill>
                  <a:schemeClr val="tx1"/>
                </a:solidFill>
              </a:rPr>
              <a:t> chart (7-day actual + 7-day forecast).</a:t>
            </a:r>
            <a:br>
              <a:rPr sz="1400" dirty="0">
                <a:solidFill>
                  <a:schemeClr val="tx1"/>
                </a:solidFill>
              </a:rPr>
            </a:br>
            <a:r>
              <a:rPr sz="1400" dirty="0">
                <a:solidFill>
                  <a:schemeClr val="tx1"/>
                </a:solidFill>
              </a:rPr>
              <a:t>• Cross-mandi price comparison table with positive/negative spreads.</a:t>
            </a:r>
            <a:br>
              <a:rPr sz="1400" dirty="0">
                <a:solidFill>
                  <a:schemeClr val="tx1"/>
                </a:solidFill>
              </a:rPr>
            </a:br>
            <a:r>
              <a:rPr sz="1400" dirty="0">
                <a:solidFill>
                  <a:schemeClr val="tx1"/>
                </a:solidFill>
              </a:rPr>
              <a:t>• Actionable selling advisory pill.</a:t>
            </a:r>
          </a:p>
        </p:txBody>
      </p:sp>
      <p:sp>
        <p:nvSpPr>
          <p:cNvPr id="7" name="Rounded Rectangle 6"/>
          <p:cNvSpPr/>
          <p:nvPr/>
        </p:nvSpPr>
        <p:spPr>
          <a:xfrm>
            <a:off x="731520" y="4023360"/>
            <a:ext cx="5257800" cy="19202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137160" rtlCol="0" anchor="ctr"/>
          <a:lstStyle/>
          <a:p>
            <a:pPr algn="ctr">
              <a:defRPr sz="1300" b="1">
                <a:solidFill>
                  <a:srgbClr val="0F172A"/>
                </a:solidFill>
              </a:defRPr>
            </a:pPr>
            <a:r>
              <a:rPr sz="1100" dirty="0">
                <a:solidFill>
                  <a:schemeClr val="tx1"/>
                </a:solidFill>
              </a:rPr>
              <a:t>📸 3. Plant Leaf Disease Scanner (detect)</a:t>
            </a:r>
          </a:p>
          <a:p>
            <a:br>
              <a:rPr sz="1400" dirty="0">
                <a:solidFill>
                  <a:schemeClr val="tx1"/>
                </a:solidFill>
              </a:rPr>
            </a:br>
            <a:r>
              <a:rPr sz="1400" dirty="0">
                <a:solidFill>
                  <a:schemeClr val="tx1"/>
                </a:solidFill>
              </a:rPr>
              <a:t>• 1-Tap 'Check My Plant' prominent action button.</a:t>
            </a:r>
            <a:br>
              <a:rPr sz="1400" dirty="0">
                <a:solidFill>
                  <a:schemeClr val="tx1"/>
                </a:solidFill>
              </a:rPr>
            </a:br>
            <a:r>
              <a:rPr sz="1400" dirty="0">
                <a:solidFill>
                  <a:schemeClr val="tx1"/>
                </a:solidFill>
              </a:rPr>
              <a:t>• Camera photo preview with pre-flight tips modal.</a:t>
            </a:r>
            <a:br>
              <a:rPr sz="1400" dirty="0">
                <a:solidFill>
                  <a:schemeClr val="tx1"/>
                </a:solidFill>
              </a:rPr>
            </a:br>
            <a:r>
              <a:rPr sz="1400" dirty="0">
                <a:solidFill>
                  <a:schemeClr val="tx1"/>
                </a:solidFill>
              </a:rPr>
              <a:t>• 3-second CNN diagnosis with visual severity badge.</a:t>
            </a:r>
            <a:br>
              <a:rPr sz="1400" dirty="0">
                <a:solidFill>
                  <a:schemeClr val="tx1"/>
                </a:solidFill>
              </a:rPr>
            </a:br>
            <a:r>
              <a:rPr sz="1400" dirty="0">
                <a:solidFill>
                  <a:schemeClr val="tx1"/>
                </a:solidFill>
              </a:rPr>
              <a:t>• Exact chemical and organic dosages per 15-liter pump + sticker.</a:t>
            </a:r>
          </a:p>
        </p:txBody>
      </p:sp>
      <p:sp>
        <p:nvSpPr>
          <p:cNvPr id="8" name="Rounded Rectangle 7"/>
          <p:cNvSpPr/>
          <p:nvPr/>
        </p:nvSpPr>
        <p:spPr>
          <a:xfrm>
            <a:off x="6172200" y="4023360"/>
            <a:ext cx="5257800" cy="19202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137160" rtlCol="0" anchor="ctr"/>
          <a:lstStyle/>
          <a:p>
            <a:pPr algn="ctr">
              <a:defRPr sz="1300" b="1">
                <a:solidFill>
                  <a:srgbClr val="0F172A"/>
                </a:solidFill>
              </a:defRPr>
            </a:pPr>
            <a:r>
              <a:rPr sz="1100" dirty="0">
                <a:solidFill>
                  <a:schemeClr val="tx1"/>
                </a:solidFill>
              </a:rPr>
              <a:t>🤖 4. AgriVision AI Assistant (chat)</a:t>
            </a:r>
          </a:p>
          <a:p>
            <a:br>
              <a:rPr sz="1400" dirty="0">
                <a:solidFill>
                  <a:schemeClr val="tx1"/>
                </a:solidFill>
              </a:rPr>
            </a:br>
            <a:r>
              <a:rPr sz="1400" dirty="0">
                <a:solidFill>
                  <a:schemeClr val="tx1"/>
                </a:solidFill>
              </a:rPr>
              <a:t>• WhatsApp-inspired conversational bubbles.</a:t>
            </a:r>
            <a:br>
              <a:rPr sz="1400" dirty="0">
                <a:solidFill>
                  <a:schemeClr val="tx1"/>
                </a:solidFill>
              </a:rPr>
            </a:br>
            <a:r>
              <a:rPr sz="1400" dirty="0">
                <a:solidFill>
                  <a:schemeClr val="tx1"/>
                </a:solidFill>
              </a:rPr>
              <a:t>• </a:t>
            </a:r>
            <a:r>
              <a:rPr sz="1400" dirty="0" err="1">
                <a:solidFill>
                  <a:schemeClr val="tx1"/>
                </a:solidFill>
              </a:rPr>
              <a:t>VoiceMicButton</a:t>
            </a:r>
            <a:r>
              <a:rPr sz="1400" dirty="0">
                <a:solidFill>
                  <a:schemeClr val="tx1"/>
                </a:solidFill>
              </a:rPr>
              <a:t> for hands-free Marathi voice query input.</a:t>
            </a:r>
            <a:br>
              <a:rPr sz="1400" dirty="0">
                <a:solidFill>
                  <a:schemeClr val="tx1"/>
                </a:solidFill>
              </a:rPr>
            </a:br>
            <a:r>
              <a:rPr sz="1400" dirty="0">
                <a:solidFill>
                  <a:schemeClr val="tx1"/>
                </a:solidFill>
              </a:rPr>
              <a:t>• </a:t>
            </a:r>
            <a:r>
              <a:rPr sz="1400" dirty="0" err="1">
                <a:solidFill>
                  <a:schemeClr val="tx1"/>
                </a:solidFill>
              </a:rPr>
              <a:t>VoiceSpeakerButton</a:t>
            </a:r>
            <a:r>
              <a:rPr sz="1400" dirty="0">
                <a:solidFill>
                  <a:schemeClr val="tx1"/>
                </a:solidFill>
              </a:rPr>
              <a:t> reading expert agronomist replies aloud.</a:t>
            </a:r>
            <a:br>
              <a:rPr sz="1400" dirty="0">
                <a:solidFill>
                  <a:schemeClr val="tx1"/>
                </a:solidFill>
              </a:rPr>
            </a:br>
            <a:r>
              <a:rPr sz="1400" dirty="0">
                <a:solidFill>
                  <a:schemeClr val="tx1"/>
                </a:solidFill>
              </a:rPr>
              <a:t>• Resilient offline Pune agronomy knowledge fallback.</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457200"/>
            <a:ext cx="10698480" cy="365760"/>
          </a:xfrm>
          <a:prstGeom prst="rect">
            <a:avLst/>
          </a:prstGeom>
          <a:noFill/>
        </p:spPr>
        <p:txBody>
          <a:bodyPr wrap="square" lIns="0" tIns="0" rIns="0" bIns="0">
            <a:spAutoFit/>
          </a:bodyPr>
          <a:lstStyle/>
          <a:p>
            <a:pPr>
              <a:defRPr sz="1100" b="1">
                <a:solidFill>
                  <a:srgbClr val="059669"/>
                </a:solidFill>
              </a:defRPr>
            </a:pPr>
            <a:r>
              <a:rPr dirty="0"/>
              <a:t>EXECUTIVE INFOGRAPHIC</a:t>
            </a:r>
          </a:p>
        </p:txBody>
      </p:sp>
      <p:sp>
        <p:nvSpPr>
          <p:cNvPr id="3" name="TextBox 2"/>
          <p:cNvSpPr txBox="1"/>
          <p:nvPr/>
        </p:nvSpPr>
        <p:spPr>
          <a:xfrm>
            <a:off x="731520" y="777240"/>
            <a:ext cx="10698480" cy="548640"/>
          </a:xfrm>
          <a:prstGeom prst="rect">
            <a:avLst/>
          </a:prstGeom>
          <a:noFill/>
        </p:spPr>
        <p:txBody>
          <a:bodyPr wrap="square" lIns="0" tIns="0" rIns="0" bIns="0">
            <a:spAutoFit/>
          </a:bodyPr>
          <a:lstStyle/>
          <a:p>
            <a:pPr>
              <a:defRPr sz="2400" b="1">
                <a:solidFill>
                  <a:srgbClr val="0F172A"/>
                </a:solidFill>
              </a:defRPr>
            </a:pPr>
            <a:r>
              <a:rPr dirty="0"/>
              <a:t>AgriVision: Smart Decision-Support for Every Farmer</a:t>
            </a:r>
          </a:p>
        </p:txBody>
      </p:sp>
      <p:sp>
        <p:nvSpPr>
          <p:cNvPr id="4" name="TextBox 3"/>
          <p:cNvSpPr txBox="1"/>
          <p:nvPr/>
        </p:nvSpPr>
        <p:spPr>
          <a:xfrm>
            <a:off x="731520" y="1325880"/>
            <a:ext cx="10698480" cy="365760"/>
          </a:xfrm>
          <a:prstGeom prst="rect">
            <a:avLst/>
          </a:prstGeom>
          <a:noFill/>
        </p:spPr>
        <p:txBody>
          <a:bodyPr wrap="square" lIns="0" tIns="0" rIns="0" bIns="0">
            <a:spAutoFit/>
          </a:bodyPr>
          <a:lstStyle/>
          <a:p>
            <a:pPr>
              <a:defRPr sz="1200">
                <a:solidFill>
                  <a:srgbClr val="64748B"/>
                </a:solidFill>
              </a:defRPr>
            </a:pPr>
            <a:r>
              <a:rPr dirty="0"/>
              <a:t>Simple to understand • Built for rural realities • Voice-enabled for universal access.</a:t>
            </a:r>
          </a:p>
        </p:txBody>
      </p:sp>
      <p:sp>
        <p:nvSpPr>
          <p:cNvPr id="5" name="Rounded Rectangle 4"/>
          <p:cNvSpPr/>
          <p:nvPr/>
        </p:nvSpPr>
        <p:spPr>
          <a:xfrm>
            <a:off x="731520" y="1920240"/>
            <a:ext cx="3474720" cy="3383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228600" tIns="228600" rIns="228600" rtlCol="0" anchor="ctr"/>
          <a:lstStyle/>
          <a:p>
            <a:pPr algn="ctr">
              <a:defRPr sz="1400" b="1">
                <a:solidFill>
                  <a:srgbClr val="059669"/>
                </a:solidFill>
              </a:defRPr>
            </a:pPr>
            <a:r>
              <a:rPr dirty="0">
                <a:solidFill>
                  <a:schemeClr val="tx1"/>
                </a:solidFill>
              </a:rPr>
              <a:t>🌱</a:t>
            </a:r>
            <a:br>
              <a:rPr dirty="0">
                <a:solidFill>
                  <a:schemeClr val="tx1"/>
                </a:solidFill>
              </a:rPr>
            </a:br>
            <a:br>
              <a:rPr dirty="0">
                <a:solidFill>
                  <a:schemeClr val="tx1"/>
                </a:solidFill>
              </a:rPr>
            </a:br>
            <a:r>
              <a:rPr dirty="0">
                <a:solidFill>
                  <a:schemeClr val="tx1"/>
                </a:solidFill>
              </a:rPr>
              <a:t>WHO WE ARE</a:t>
            </a:r>
          </a:p>
          <a:p>
            <a:br>
              <a:rPr dirty="0">
                <a:solidFill>
                  <a:schemeClr val="tx1"/>
                </a:solidFill>
              </a:rPr>
            </a:br>
            <a:r>
              <a:rPr dirty="0">
                <a:solidFill>
                  <a:schemeClr val="tx1"/>
                </a:solidFill>
              </a:rPr>
              <a:t>An AI-powered agricultural intelligence platform built specifically for Indian smallholders, translating complex science into simple local-language guidance.</a:t>
            </a:r>
          </a:p>
        </p:txBody>
      </p:sp>
      <p:sp>
        <p:nvSpPr>
          <p:cNvPr id="6" name="Rounded Rectangle 5"/>
          <p:cNvSpPr/>
          <p:nvPr/>
        </p:nvSpPr>
        <p:spPr>
          <a:xfrm>
            <a:off x="4389120" y="1920240"/>
            <a:ext cx="3474720" cy="3383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228600" tIns="228600" rIns="228600" rtlCol="0" anchor="ctr"/>
          <a:lstStyle/>
          <a:p>
            <a:pPr algn="ctr">
              <a:defRPr sz="1400" b="1">
                <a:solidFill>
                  <a:srgbClr val="059669"/>
                </a:solidFill>
              </a:defRPr>
            </a:pPr>
            <a:r>
              <a:rPr dirty="0">
                <a:solidFill>
                  <a:schemeClr val="tx1"/>
                </a:solidFill>
              </a:rPr>
              <a:t>🎯</a:t>
            </a:r>
            <a:br>
              <a:rPr dirty="0">
                <a:solidFill>
                  <a:schemeClr val="tx1"/>
                </a:solidFill>
              </a:rPr>
            </a:br>
            <a:br>
              <a:rPr dirty="0">
                <a:solidFill>
                  <a:schemeClr val="tx1"/>
                </a:solidFill>
              </a:rPr>
            </a:br>
            <a:r>
              <a:rPr dirty="0">
                <a:solidFill>
                  <a:schemeClr val="tx1"/>
                </a:solidFill>
              </a:rPr>
              <a:t>WHY WE EXIST</a:t>
            </a:r>
          </a:p>
          <a:p>
            <a:br>
              <a:rPr dirty="0">
                <a:solidFill>
                  <a:schemeClr val="tx1"/>
                </a:solidFill>
              </a:rPr>
            </a:br>
            <a:r>
              <a:rPr dirty="0">
                <a:solidFill>
                  <a:schemeClr val="tx1"/>
                </a:solidFill>
              </a:rPr>
              <a:t>Because diagnosing plant leaf diseases, knowing fair wholesale mandi prices, and balancing soil fertilizers shouldn't require an advanced science degree.</a:t>
            </a:r>
          </a:p>
        </p:txBody>
      </p:sp>
      <p:sp>
        <p:nvSpPr>
          <p:cNvPr id="7" name="Rounded Rectangle 6"/>
          <p:cNvSpPr/>
          <p:nvPr/>
        </p:nvSpPr>
        <p:spPr>
          <a:xfrm>
            <a:off x="8046720" y="1920240"/>
            <a:ext cx="3474720" cy="3383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228600" tIns="228600" rIns="228600" rtlCol="0" anchor="ctr"/>
          <a:lstStyle/>
          <a:p>
            <a:pPr algn="ctr">
              <a:defRPr sz="1400" b="1">
                <a:solidFill>
                  <a:srgbClr val="059669"/>
                </a:solidFill>
              </a:defRPr>
            </a:pPr>
            <a:r>
              <a:rPr dirty="0">
                <a:solidFill>
                  <a:schemeClr val="tx1"/>
                </a:solidFill>
              </a:rPr>
              <a:t>💡</a:t>
            </a:r>
            <a:br>
              <a:rPr dirty="0">
                <a:solidFill>
                  <a:schemeClr val="tx1"/>
                </a:solidFill>
              </a:rPr>
            </a:br>
            <a:br>
              <a:rPr dirty="0">
                <a:solidFill>
                  <a:schemeClr val="tx1"/>
                </a:solidFill>
              </a:rPr>
            </a:br>
            <a:r>
              <a:rPr dirty="0">
                <a:solidFill>
                  <a:schemeClr val="tx1"/>
                </a:solidFill>
              </a:rPr>
              <a:t>HOW WE SOLVE IT</a:t>
            </a:r>
          </a:p>
          <a:p>
            <a:br>
              <a:rPr dirty="0">
                <a:solidFill>
                  <a:schemeClr val="tx1"/>
                </a:solidFill>
              </a:rPr>
            </a:br>
            <a:r>
              <a:rPr dirty="0">
                <a:solidFill>
                  <a:schemeClr val="tx1"/>
                </a:solidFill>
              </a:rPr>
              <a:t>Instant camera disease diagnosis, 15L pump dosages, live 8-mandi price spreads, 7-day price forecasts, and spoken Marathi voice guidance.</a:t>
            </a:r>
          </a:p>
        </p:txBody>
      </p:sp>
      <p:sp>
        <p:nvSpPr>
          <p:cNvPr id="8" name="Rounded Rectangle 7"/>
          <p:cNvSpPr/>
          <p:nvPr/>
        </p:nvSpPr>
        <p:spPr>
          <a:xfrm>
            <a:off x="731520" y="5577840"/>
            <a:ext cx="10725912" cy="594360"/>
          </a:xfrm>
          <a:prstGeom prst="roundRect">
            <a:avLst/>
          </a:prstGeom>
          <a:solidFill>
            <a:srgbClr val="059669"/>
          </a:solidFill>
          <a:ln>
            <a:solidFill>
              <a:srgbClr val="059669"/>
            </a:solidFill>
          </a:ln>
        </p:spPr>
        <p:style>
          <a:lnRef idx="1">
            <a:schemeClr val="accent1"/>
          </a:lnRef>
          <a:fillRef idx="3">
            <a:schemeClr val="accent1"/>
          </a:fillRef>
          <a:effectRef idx="2">
            <a:schemeClr val="accent1"/>
          </a:effectRef>
          <a:fontRef idx="minor">
            <a:schemeClr val="lt1"/>
          </a:fontRef>
        </p:style>
        <p:txBody>
          <a:bodyPr tIns="109728" rtlCol="0" anchor="ctr"/>
          <a:lstStyle/>
          <a:p>
            <a:pPr algn="ctr">
              <a:defRPr sz="1200" b="1">
                <a:solidFill>
                  <a:srgbClr val="FFFFFF"/>
                </a:solidFill>
              </a:defRPr>
            </a:pPr>
            <a:r>
              <a:rPr dirty="0"/>
              <a:t>🔊 Need help? Press the big green button or listen in Marathi anytime! (</a:t>
            </a:r>
            <a:r>
              <a:rPr dirty="0" err="1"/>
              <a:t>मराठीत</a:t>
            </a:r>
            <a:r>
              <a:rPr dirty="0"/>
              <a:t> </a:t>
            </a:r>
            <a:r>
              <a:rPr dirty="0" err="1"/>
              <a:t>बोलून</a:t>
            </a:r>
            <a:r>
              <a:rPr dirty="0"/>
              <a:t> </a:t>
            </a:r>
            <a:r>
              <a:rPr dirty="0" err="1"/>
              <a:t>माहिती</a:t>
            </a:r>
            <a:r>
              <a:rPr dirty="0"/>
              <a:t> </a:t>
            </a:r>
            <a:r>
              <a:rPr dirty="0" err="1"/>
              <a:t>ऐका</a:t>
            </a:r>
            <a:r>
              <a:rPr dirty="0"/>
              <a: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A239E02-D1FA-1798-7A69-394684097366}"/>
              </a:ext>
            </a:extLst>
          </p:cNvPr>
          <p:cNvPicPr>
            <a:picLocks noChangeAspect="1"/>
          </p:cNvPicPr>
          <p:nvPr/>
        </p:nvPicPr>
        <p:blipFill>
          <a:blip r:embed="rId2"/>
          <a:stretch>
            <a:fillRect/>
          </a:stretch>
        </p:blipFill>
        <p:spPr>
          <a:xfrm>
            <a:off x="0" y="0"/>
            <a:ext cx="12191999" cy="6858000"/>
          </a:xfrm>
          <a:prstGeom prst="rect">
            <a:avLst/>
          </a:prstGeom>
        </p:spPr>
      </p:pic>
    </p:spTree>
    <p:extLst>
      <p:ext uri="{BB962C8B-B14F-4D97-AF65-F5344CB8AC3E}">
        <p14:creationId xmlns:p14="http://schemas.microsoft.com/office/powerpoint/2010/main" val="30780269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1645920"/>
            <a:ext cx="10698480" cy="731520"/>
          </a:xfrm>
          <a:prstGeom prst="rect">
            <a:avLst/>
          </a:prstGeom>
          <a:noFill/>
        </p:spPr>
        <p:txBody>
          <a:bodyPr wrap="none">
            <a:spAutoFit/>
          </a:bodyPr>
          <a:lstStyle/>
          <a:p>
            <a:pPr algn="ctr">
              <a:defRPr sz="4000"/>
            </a:pPr>
            <a:r>
              <a:rPr dirty="0"/>
              <a:t>🌾</a:t>
            </a:r>
          </a:p>
        </p:txBody>
      </p:sp>
      <p:sp>
        <p:nvSpPr>
          <p:cNvPr id="3" name="TextBox 2"/>
          <p:cNvSpPr txBox="1"/>
          <p:nvPr/>
        </p:nvSpPr>
        <p:spPr>
          <a:xfrm>
            <a:off x="731520" y="2468880"/>
            <a:ext cx="10698480" cy="1645920"/>
          </a:xfrm>
          <a:prstGeom prst="rect">
            <a:avLst/>
          </a:prstGeom>
          <a:noFill/>
        </p:spPr>
        <p:txBody>
          <a:bodyPr wrap="square">
            <a:spAutoFit/>
          </a:bodyPr>
          <a:lstStyle/>
          <a:p>
            <a:pPr algn="ctr">
              <a:defRPr sz="3200" b="1">
                <a:solidFill>
                  <a:srgbClr val="FFFFFF"/>
                </a:solidFill>
              </a:defRPr>
            </a:pPr>
            <a:r>
              <a:rPr dirty="0"/>
              <a:t>Empowering Every Farmer with Technology &amp; Dignity</a:t>
            </a:r>
          </a:p>
          <a:p>
            <a:br>
              <a:rPr dirty="0"/>
            </a:br>
            <a:r>
              <a:rPr dirty="0"/>
              <a:t>AgriVision bridges the digital divide with multimodal AI, transparent mandi forecasting, and voice accessibility.</a:t>
            </a:r>
            <a:br>
              <a:rPr dirty="0"/>
            </a:br>
            <a:r>
              <a:rPr dirty="0"/>
              <a:t>Transforming agriculture from uncertainty into precision, sustainability, and prosperity.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24</TotalTime>
  <Words>3560</Words>
  <Application>Microsoft Office PowerPoint</Application>
  <PresentationFormat>Widescreen</PresentationFormat>
  <Paragraphs>209</Paragraphs>
  <Slides>24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Ajit Dangi</dc:creator>
  <cp:keywords/>
  <dc:description>generated using python-pptx</dc:description>
  <cp:lastModifiedBy>Ajit Dangi</cp:lastModifiedBy>
  <cp:revision>5</cp:revision>
  <dcterms:created xsi:type="dcterms:W3CDTF">2013-01-27T09:14:16Z</dcterms:created>
  <dcterms:modified xsi:type="dcterms:W3CDTF">2026-10-25T14:34:20Z</dcterms:modified>
  <cp:category/>
</cp:coreProperties>
</file>