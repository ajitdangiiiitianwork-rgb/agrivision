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731520" y="1097280"/>
            <a:ext cx="3474720" cy="34747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defRPr>
            </a:pPr>
            <a:r>
              <a:t>🌱 UNIVERSAL AGRICULTURAL DECISION PLATFORM</a:t>
            </a:r>
          </a:p>
        </p:txBody>
      </p:sp>
      <p:sp>
        <p:nvSpPr>
          <p:cNvPr id="3" name="TextBox 2"/>
          <p:cNvSpPr txBox="1"/>
          <p:nvPr/>
        </p:nvSpPr>
        <p:spPr>
          <a:xfrm>
            <a:off x="731520" y="1645920"/>
            <a:ext cx="10698480" cy="2011680"/>
          </a:xfrm>
          <a:prstGeom prst="rect">
            <a:avLst/>
          </a:prstGeom>
          <a:noFill/>
        </p:spPr>
        <p:txBody>
          <a:bodyPr wrap="square">
            <a:spAutoFit/>
          </a:bodyPr>
          <a:lstStyle/>
          <a:p>
            <a:pPr>
              <a:defRPr sz="3600" b="1">
                <a:solidFill>
                  <a:srgbClr val="FFFFFF"/>
                </a:solidFill>
              </a:defRPr>
            </a:pPr>
            <a:r>
              <a:t>AgriVision: Multilingual AI &amp;</a:t>
            </a:r>
            <a:br/>
            <a:r>
              <a:t>Precision Market Intelligence for Farmers</a:t>
            </a:r>
          </a:p>
          <a:p>
            <a:br/>
            <a:pPr>
              <a:defRPr sz="1400">
                <a:solidFill>
                  <a:srgbClr val="CBD5E1"/>
                </a:solidFill>
              </a:defRPr>
            </a:pPr>
            <a:r>
              <a:t>A farmer-centric mobile decision platform engineered specifically for Indian smallholders to detect crop leaf diseases,</a:t>
            </a:r>
            <a:br/>
            <a:r>
              <a:t>forecast APMC mandi prices, and optimize seasonal crop yields through voice and local languages.</a:t>
            </a:r>
          </a:p>
        </p:txBody>
      </p:sp>
      <p:sp>
        <p:nvSpPr>
          <p:cNvPr id="4" name="Rectangle 3"/>
          <p:cNvSpPr/>
          <p:nvPr/>
        </p:nvSpPr>
        <p:spPr>
          <a:xfrm>
            <a:off x="731520" y="4754880"/>
            <a:ext cx="10725912"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937760"/>
            <a:ext cx="3291840" cy="1097280"/>
          </a:xfrm>
          <a:prstGeom prst="rect">
            <a:avLst/>
          </a:prstGeom>
          <a:noFill/>
        </p:spPr>
        <p:txBody>
          <a:bodyPr wrap="none">
            <a:spAutoFit/>
          </a:bodyPr>
          <a:lstStyle/>
          <a:p>
            <a:pPr>
              <a:defRPr sz="1000" b="1">
                <a:solidFill>
                  <a:srgbClr val="10B981"/>
                </a:solidFill>
              </a:defRPr>
            </a:pPr>
            <a:r>
              <a:t>CORE FOCUS</a:t>
            </a:r>
          </a:p>
          <a:p>
            <a:pPr>
              <a:defRPr sz="1200">
                <a:solidFill>
                  <a:srgbClr val="FFFFFF"/>
                </a:solidFill>
              </a:defRPr>
            </a:pPr>
            <a:r>
              <a:t>Leaf Disease Vision &amp; APMC Price Arbitrage</a:t>
            </a:r>
          </a:p>
        </p:txBody>
      </p:sp>
      <p:sp>
        <p:nvSpPr>
          <p:cNvPr id="6" name="TextBox 5"/>
          <p:cNvSpPr txBox="1"/>
          <p:nvPr/>
        </p:nvSpPr>
        <p:spPr>
          <a:xfrm>
            <a:off x="4389120" y="4937760"/>
            <a:ext cx="3291840" cy="1097280"/>
          </a:xfrm>
          <a:prstGeom prst="rect">
            <a:avLst/>
          </a:prstGeom>
          <a:noFill/>
        </p:spPr>
        <p:txBody>
          <a:bodyPr wrap="none">
            <a:spAutoFit/>
          </a:bodyPr>
          <a:lstStyle/>
          <a:p>
            <a:pPr>
              <a:defRPr sz="1000" b="1">
                <a:solidFill>
                  <a:srgbClr val="10B981"/>
                </a:solidFill>
              </a:defRPr>
            </a:pPr>
            <a:r>
              <a:t>EXPERIENCE</a:t>
            </a:r>
          </a:p>
          <a:p>
            <a:pPr>
              <a:defRPr sz="1200">
                <a:solidFill>
                  <a:srgbClr val="FFFFFF"/>
                </a:solidFill>
              </a:defRPr>
            </a:pPr>
            <a:r>
              <a:t>Dual Adaptation &amp; Marathi/Hindi Audio</a:t>
            </a:r>
          </a:p>
        </p:txBody>
      </p:sp>
      <p:sp>
        <p:nvSpPr>
          <p:cNvPr id="7" name="TextBox 6"/>
          <p:cNvSpPr txBox="1"/>
          <p:nvPr/>
        </p:nvSpPr>
        <p:spPr>
          <a:xfrm>
            <a:off x="8046720" y="4937760"/>
            <a:ext cx="3291840" cy="1097280"/>
          </a:xfrm>
          <a:prstGeom prst="rect">
            <a:avLst/>
          </a:prstGeom>
          <a:noFill/>
        </p:spPr>
        <p:txBody>
          <a:bodyPr wrap="none">
            <a:spAutoFit/>
          </a:bodyPr>
          <a:lstStyle/>
          <a:p>
            <a:pPr>
              <a:defRPr sz="1000" b="1">
                <a:solidFill>
                  <a:srgbClr val="10B981"/>
                </a:solidFill>
              </a:defRPr>
            </a:pPr>
            <a:r>
              <a:t>MISSION</a:t>
            </a:r>
          </a:p>
          <a:p>
            <a:pPr>
              <a:defRPr sz="1200">
                <a:solidFill>
                  <a:srgbClr val="FFFFFF"/>
                </a:solidFill>
              </a:defRPr>
            </a:pPr>
            <a:r>
              <a:t>Accessible Agronomy &amp; Direct Market Freedom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PROBLEM &amp; IMPACT</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The Critical Agronomic &amp; Economic Void</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Fragmented advisory, aggressive pesticide bundling, and opaque mandi pricing cost Indian farmers billions annually.</a:t>
            </a:r>
          </a:p>
        </p:txBody>
      </p:sp>
      <p:sp>
        <p:nvSpPr>
          <p:cNvPr id="5" name="Rounded Rectangle 4"/>
          <p:cNvSpPr/>
          <p:nvPr/>
        </p:nvSpPr>
        <p:spPr>
          <a:xfrm>
            <a:off x="731520"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400" b="1">
                <a:solidFill>
                  <a:srgbClr val="0F172A"/>
                </a:solidFill>
              </a:defRPr>
            </a:pPr>
            <a:r>
              <a:t>🧪</a:t>
            </a:r>
            <a:br/>
            <a:br/>
            <a:r>
              <a:t>Retail Agrochemical Exploitation</a:t>
            </a:r>
          </a:p>
          <a:p>
            <a:br/>
            <a:pPr>
              <a:defRPr sz="1100">
                <a:solidFill>
                  <a:srgbClr val="64748B"/>
                </a:solidFill>
              </a:defRPr>
            </a:pPr>
            <a:r>
              <a:t>Dealers push ₹2,000–₹4,000 of unneeded tonics without diagnosing the actual pathogen; no exact dosages per 15L pump.</a:t>
            </a:r>
          </a:p>
        </p:txBody>
      </p:sp>
      <p:sp>
        <p:nvSpPr>
          <p:cNvPr id="6" name="Rounded Rectangle 5"/>
          <p:cNvSpPr/>
          <p:nvPr/>
        </p:nvSpPr>
        <p:spPr>
          <a:xfrm>
            <a:off x="3456432"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400" b="1">
                <a:solidFill>
                  <a:srgbClr val="0F172A"/>
                </a:solidFill>
              </a:defRPr>
            </a:pPr>
            <a:r>
              <a:t>📈</a:t>
            </a:r>
            <a:br/>
            <a:br/>
            <a:r>
              <a:t>Mandi Information Asymmetry</a:t>
            </a:r>
          </a:p>
          <a:p>
            <a:br/>
            <a:pPr>
              <a:defRPr sz="1100">
                <a:solidFill>
                  <a:srgbClr val="64748B"/>
                </a:solidFill>
              </a:defRPr>
            </a:pPr>
            <a:r>
              <a:t>Wholesale prices collapse unexpectedly after harvest; price differences across nearby APMCs are unknown to farmers.</a:t>
            </a:r>
          </a:p>
        </p:txBody>
      </p:sp>
      <p:sp>
        <p:nvSpPr>
          <p:cNvPr id="7" name="Rounded Rectangle 6"/>
          <p:cNvSpPr/>
          <p:nvPr/>
        </p:nvSpPr>
        <p:spPr>
          <a:xfrm>
            <a:off x="6181344"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400" b="1">
                <a:solidFill>
                  <a:srgbClr val="0F172A"/>
                </a:solidFill>
              </a:defRPr>
            </a:pPr>
            <a:r>
              <a:t>🌱</a:t>
            </a:r>
            <a:br/>
            <a:br/>
            <a:r>
              <a:t>Soil Exhaustion &amp; Guesswork</a:t>
            </a:r>
          </a:p>
          <a:p>
            <a:br/>
            <a:pPr>
              <a:defRPr sz="1100">
                <a:solidFill>
                  <a:srgbClr val="64748B"/>
                </a:solidFill>
              </a:defRPr>
            </a:pPr>
            <a:r>
              <a:t>Soil testing reports feature confusing scientific numbers (pH, NPK ppm); farmers guess crops by copying neighbors.</a:t>
            </a:r>
          </a:p>
        </p:txBody>
      </p:sp>
      <p:sp>
        <p:nvSpPr>
          <p:cNvPr id="8" name="Rounded Rectangle 7"/>
          <p:cNvSpPr/>
          <p:nvPr/>
        </p:nvSpPr>
        <p:spPr>
          <a:xfrm>
            <a:off x="8906256"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400" b="1">
                <a:solidFill>
                  <a:srgbClr val="0F172A"/>
                </a:solidFill>
              </a:defRPr>
            </a:pPr>
            <a:r>
              <a:t>🗣️</a:t>
            </a:r>
            <a:br/>
            <a:br/>
            <a:r>
              <a:t>Linguistic &amp; Digital Exclusion</a:t>
            </a:r>
          </a:p>
          <a:p>
            <a:br/>
            <a:pPr>
              <a:defRPr sz="1100">
                <a:solidFill>
                  <a:srgbClr val="64748B"/>
                </a:solidFill>
              </a:defRPr>
            </a:pPr>
            <a:r>
              <a:t>Existing portals are built in complex English with dense text and endless typing, alienating rural non-readers.</a:t>
            </a:r>
          </a:p>
        </p:txBody>
      </p:sp>
      <p:sp>
        <p:nvSpPr>
          <p:cNvPr id="9" name="Rounded Rectangle 8"/>
          <p:cNvSpPr/>
          <p:nvPr/>
        </p:nvSpPr>
        <p:spPr>
          <a:xfrm>
            <a:off x="731520" y="5577840"/>
            <a:ext cx="10725912" cy="59436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150" b="1">
                <a:solidFill>
                  <a:srgbClr val="059669"/>
                </a:solidFill>
              </a:defRPr>
            </a:pPr>
            <a:r>
              <a:t>🎯 AgriVision Dual Mission: Instant on-device camera disease diagnostics with exact 15L pump dosages, plus transparent multi-mandi price arbitrage.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AUDIENCE SCOPE</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Identification of Farmer User Groups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Targeted solutions designed around the operational realities of Indian agriculture.</a:t>
            </a:r>
          </a:p>
        </p:txBody>
      </p:sp>
      <p:sp>
        <p:nvSpPr>
          <p:cNvPr id="5" name="Rounded Rectangle 4"/>
          <p:cNvSpPr/>
          <p:nvPr/>
        </p:nvSpPr>
        <p:spPr>
          <a:xfrm>
            <a:off x="731520" y="1920240"/>
            <a:ext cx="347472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950" b="1">
                <a:solidFill>
                  <a:srgbClr val="059669"/>
                </a:solidFill>
              </a:defRPr>
            </a:pPr>
            <a:r>
              <a:t>Key need: 5-second camera diagnosis &amp; 15L pump dosages</a:t>
            </a:r>
          </a:p>
          <a:p>
            <a:br/>
            <a:pPr>
              <a:defRPr sz="1600" b="1">
                <a:solidFill>
                  <a:srgbClr val="0F172A"/>
                </a:solidFill>
              </a:defRPr>
            </a:pPr>
            <a:r>
              <a:t>🍅 Smallholder Vegetable Growers</a:t>
            </a:r>
          </a:p>
          <a:p>
            <a:br/>
            <a:pPr>
              <a:defRPr sz="1150">
                <a:solidFill>
                  <a:srgbClr val="64748B"/>
                </a:solidFill>
              </a:defRPr>
            </a:pPr>
            <a:r>
              <a:t>Farmers cultivating high-risk, perishable cash crops (Tomato, Onion, Chilli). A single blight infection or sudden mandi crash can wipe out an entire season's livelihood.</a:t>
            </a:r>
          </a:p>
        </p:txBody>
      </p:sp>
      <p:sp>
        <p:nvSpPr>
          <p:cNvPr id="6" name="Rounded Rectangle 5"/>
          <p:cNvSpPr/>
          <p:nvPr/>
        </p:nvSpPr>
        <p:spPr>
          <a:xfrm>
            <a:off x="4389120" y="1920240"/>
            <a:ext cx="347472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950" b="1">
                <a:solidFill>
                  <a:srgbClr val="059669"/>
                </a:solidFill>
              </a:defRPr>
            </a:pPr>
            <a:r>
              <a:t>Key need: Spoken Marathi/Hindi audio &amp; voice mic input</a:t>
            </a:r>
          </a:p>
          <a:p>
            <a:br/>
            <a:pPr>
              <a:defRPr sz="1600" b="1">
                <a:solidFill>
                  <a:srgbClr val="0F172A"/>
                </a:solidFill>
              </a:defRPr>
            </a:pPr>
            <a:r>
              <a:t>👵 Low-Literacy &amp; Elder Farmers</a:t>
            </a:r>
          </a:p>
          <a:p>
            <a:br/>
            <a:pPr>
              <a:defRPr sz="1150">
                <a:solidFill>
                  <a:srgbClr val="64748B"/>
                </a:solidFill>
              </a:defRPr>
            </a:pPr>
            <a:r>
              <a:t>Older farmers (50+ yrs) with limited reading fluency, eyesight challenges, and working hands in outdoor sun who need spoken voice advice with zero on-screen typing.</a:t>
            </a:r>
          </a:p>
        </p:txBody>
      </p:sp>
      <p:sp>
        <p:nvSpPr>
          <p:cNvPr id="7" name="Rounded Rectangle 6"/>
          <p:cNvSpPr/>
          <p:nvPr/>
        </p:nvSpPr>
        <p:spPr>
          <a:xfrm>
            <a:off x="8046720" y="1920240"/>
            <a:ext cx="347472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950" b="1">
                <a:solidFill>
                  <a:srgbClr val="059669"/>
                </a:solidFill>
              </a:defRPr>
            </a:pPr>
            <a:r>
              <a:t>Key need: 8 APMC price comparison &amp; 7-day trend forecasts</a:t>
            </a:r>
          </a:p>
          <a:p>
            <a:br/>
            <a:pPr>
              <a:defRPr sz="1600" b="1">
                <a:solidFill>
                  <a:srgbClr val="0F172A"/>
                </a:solidFill>
              </a:defRPr>
            </a:pPr>
            <a:r>
              <a:t>🌾 Commercial Cash &amp; Grain Croppers</a:t>
            </a:r>
          </a:p>
          <a:p>
            <a:br/>
            <a:pPr>
              <a:defRPr sz="1150">
                <a:solidFill>
                  <a:srgbClr val="64748B"/>
                </a:solidFill>
              </a:defRPr>
            </a:pPr>
            <a:r>
              <a:t>Agile farmers growing Soybean, Wheat, Sugarcane, and Pomegranate who seek forward price momentum and inter-mandi price arbitrage to maximize market realization.</a:t>
            </a:r>
          </a:p>
        </p:txBody>
      </p:sp>
      <p:sp>
        <p:nvSpPr>
          <p:cNvPr id="8" name="TextBox 7"/>
          <p:cNvSpPr txBox="1"/>
          <p:nvPr/>
        </p:nvSpPr>
        <p:spPr>
          <a:xfrm>
            <a:off x="731520" y="5669280"/>
            <a:ext cx="10725912" cy="457200"/>
          </a:xfrm>
          <a:prstGeom prst="rect">
            <a:avLst/>
          </a:prstGeom>
          <a:noFill/>
        </p:spPr>
        <p:txBody>
          <a:bodyPr wrap="none">
            <a:spAutoFit/>
          </a:bodyPr>
          <a:lstStyle/>
          <a:p>
            <a:pPr>
              <a:defRPr sz="1200" b="1">
                <a:solidFill>
                  <a:srgbClr val="059669"/>
                </a:solidFill>
              </a:defRPr>
            </a:pPr>
            <a:r>
              <a:t>| Empowering over 140 million Indian smallholders and 15 million Maharashtra farming households.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DISCOVERY FRAMEWORK</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8-Point Field Study Questionnaire</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Administered across in-depth qualitative interview sessions with representative farmers across the Pune agricultural belt.</a:t>
            </a:r>
          </a:p>
        </p:txBody>
      </p:sp>
      <p:sp>
        <p:nvSpPr>
          <p:cNvPr id="5" name="Rounded Rectangle 4"/>
          <p:cNvSpPr/>
          <p:nvPr/>
        </p:nvSpPr>
        <p:spPr>
          <a:xfrm>
            <a:off x="731520" y="182880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Q1: Annual Crop Loss Severity</a:t>
            </a:r>
          </a:p>
          <a:p>
            <a:pPr>
              <a:defRPr sz="950">
                <a:solidFill>
                  <a:srgbClr val="64748B"/>
                </a:solidFill>
              </a:defRPr>
            </a:pPr>
            <a:r>
              <a:t>How much yield is lost to pests and diseases?</a:t>
            </a:r>
            <a:br/>
            <a:r>
              <a:t>A) &gt;30% Severe  B) 15-30% Moderate  C) &lt;15% Mild</a:t>
            </a:r>
          </a:p>
        </p:txBody>
      </p:sp>
      <p:sp>
        <p:nvSpPr>
          <p:cNvPr id="6" name="Rounded Rectangle 5"/>
          <p:cNvSpPr/>
          <p:nvPr/>
        </p:nvSpPr>
        <p:spPr>
          <a:xfrm>
            <a:off x="731520" y="278892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Q2: Disease Diagnostic Method</a:t>
            </a:r>
          </a:p>
          <a:p>
            <a:pPr>
              <a:defRPr sz="950">
                <a:solidFill>
                  <a:srgbClr val="64748B"/>
                </a:solidFill>
              </a:defRPr>
            </a:pPr>
            <a:r>
              <a:t>How do you currently diagnose leaf diseases?</a:t>
            </a:r>
            <a:br/>
            <a:r>
              <a:t>A) Chemical Shop  B) Ask Neighbor  C) Guess/Spray  D) Wait</a:t>
            </a:r>
          </a:p>
        </p:txBody>
      </p:sp>
      <p:sp>
        <p:nvSpPr>
          <p:cNvPr id="7" name="Rounded Rectangle 6"/>
          <p:cNvSpPr/>
          <p:nvPr/>
        </p:nvSpPr>
        <p:spPr>
          <a:xfrm>
            <a:off x="731520" y="3749039"/>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Q3: Agrochemical Dealer Issues</a:t>
            </a:r>
          </a:p>
          <a:p>
            <a:pPr>
              <a:defRPr sz="950">
                <a:solidFill>
                  <a:srgbClr val="64748B"/>
                </a:solidFill>
              </a:defRPr>
            </a:pPr>
            <a:r>
              <a:t>What problems occur when buying pesticides?</a:t>
            </a:r>
            <a:br/>
            <a:r>
              <a:t>A) Expensive Bundling  B) Wrong Dosages  C) Low Quality</a:t>
            </a:r>
          </a:p>
        </p:txBody>
      </p:sp>
      <p:sp>
        <p:nvSpPr>
          <p:cNvPr id="8" name="Rounded Rectangle 7"/>
          <p:cNvSpPr/>
          <p:nvPr/>
        </p:nvSpPr>
        <p:spPr>
          <a:xfrm>
            <a:off x="731520" y="470916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Q4: Camera AI Willingness</a:t>
            </a:r>
          </a:p>
          <a:p>
            <a:pPr>
              <a:defRPr sz="950">
                <a:solidFill>
                  <a:srgbClr val="64748B"/>
                </a:solidFill>
              </a:defRPr>
            </a:pPr>
            <a:r>
              <a:t>Would you use an app that diagnoses from leaf photos?</a:t>
            </a:r>
            <a:br/>
            <a:r>
              <a:t>A) Yes Definitely  B) Yes in Marathi  C) Maybe with training</a:t>
            </a:r>
          </a:p>
        </p:txBody>
      </p:sp>
      <p:sp>
        <p:nvSpPr>
          <p:cNvPr id="9" name="Rounded Rectangle 8"/>
          <p:cNvSpPr/>
          <p:nvPr/>
        </p:nvSpPr>
        <p:spPr>
          <a:xfrm>
            <a:off x="6217920" y="182880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Q5: Daily Price Discovery Channel</a:t>
            </a:r>
          </a:p>
          <a:p>
            <a:pPr>
              <a:defRPr sz="950">
                <a:solidFill>
                  <a:srgbClr val="64748B"/>
                </a:solidFill>
              </a:defRPr>
            </a:pPr>
            <a:r>
              <a:t>How do you currently check mandi rates before harvest?</a:t>
            </a:r>
            <a:br/>
            <a:r>
              <a:t>A) Middlemen/Agents  B) Word of mouth  C) Delayed news</a:t>
            </a:r>
          </a:p>
        </p:txBody>
      </p:sp>
      <p:sp>
        <p:nvSpPr>
          <p:cNvPr id="10" name="Rounded Rectangle 9"/>
          <p:cNvSpPr/>
          <p:nvPr/>
        </p:nvSpPr>
        <p:spPr>
          <a:xfrm>
            <a:off x="6217920" y="278892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Q6: Mandi Selling Frustrations</a:t>
            </a:r>
          </a:p>
          <a:p>
            <a:pPr>
              <a:defRPr sz="950">
                <a:solidFill>
                  <a:srgbClr val="64748B"/>
                </a:solidFill>
              </a:defRPr>
            </a:pPr>
            <a:r>
              <a:t>What is your biggest pain in agricultural mandis?</a:t>
            </a:r>
            <a:br/>
            <a:r>
              <a:t>A) Sudden price drop  B) Weighment cuts  C) Unknown spreads</a:t>
            </a:r>
          </a:p>
        </p:txBody>
      </p:sp>
      <p:sp>
        <p:nvSpPr>
          <p:cNvPr id="11" name="Rounded Rectangle 10"/>
          <p:cNvSpPr/>
          <p:nvPr/>
        </p:nvSpPr>
        <p:spPr>
          <a:xfrm>
            <a:off x="6217920" y="3749039"/>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Q7: Forward Price Forecast Value</a:t>
            </a:r>
          </a:p>
          <a:p>
            <a:pPr>
              <a:defRPr sz="950">
                <a:solidFill>
                  <a:srgbClr val="64748B"/>
                </a:solidFill>
              </a:defRPr>
            </a:pPr>
            <a:r>
              <a:t>Would a 7-day price forecast and multi-mandi matrix help?</a:t>
            </a:r>
            <a:br/>
            <a:r>
              <a:t>A) Extremely Helpful  B) Somewhat Helpful  C) Not helpful</a:t>
            </a:r>
          </a:p>
        </p:txBody>
      </p:sp>
      <p:sp>
        <p:nvSpPr>
          <p:cNvPr id="12" name="Rounded Rectangle 11"/>
          <p:cNvSpPr/>
          <p:nvPr/>
        </p:nvSpPr>
        <p:spPr>
          <a:xfrm>
            <a:off x="6217920" y="470916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Q8: Preferred Technology Medium</a:t>
            </a:r>
          </a:p>
          <a:p>
            <a:pPr>
              <a:defRPr sz="950">
                <a:solidFill>
                  <a:srgbClr val="64748B"/>
                </a:solidFill>
              </a:defRPr>
            </a:pPr>
            <a:r>
              <a:t>What is the easiest way to receive advice on your phone?</a:t>
            </a:r>
            <a:br/>
            <a:r>
              <a:t>A) Spoken Marathi Audio  B) Voice Mic Input  C) Simple Text</a:t>
            </a:r>
          </a:p>
        </p:txBody>
      </p:sp>
      <p:sp>
        <p:nvSpPr>
          <p:cNvPr id="13" name="TextBox 12"/>
          <p:cNvSpPr txBox="1"/>
          <p:nvPr/>
        </p:nvSpPr>
        <p:spPr>
          <a:xfrm>
            <a:off x="731520" y="5760720"/>
            <a:ext cx="10698480" cy="365760"/>
          </a:xfrm>
          <a:prstGeom prst="rect">
            <a:avLst/>
          </a:prstGeom>
          <a:noFill/>
        </p:spPr>
        <p:txBody>
          <a:bodyPr wrap="none">
            <a:spAutoFit/>
          </a:bodyPr>
          <a:lstStyle/>
          <a:p>
            <a:pPr>
              <a:defRPr sz="1000">
                <a:solidFill>
                  <a:srgbClr val="64748B"/>
                </a:solidFill>
              </a:defRPr>
            </a:pPr>
            <a:r>
              <a:t>Survey Dataset Available: c:/CODING/AgriVision/Farmer_Problem_Survey_Questionnaire_Trilingual.docx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FIELD INTERVIEWS • PART 1</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Interviews 01 &amp; 02: Chemical Bundling &amp; Reading Barriers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Dnyaneshwar Shinde (Age 42)</a:t>
            </a:r>
            <a:br/>
            <a:r>
              <a:t>Smallholder Vegetable Farmer • Narayangaon, Junnar</a:t>
            </a:r>
          </a:p>
          <a:p>
            <a:br/>
            <a:pPr>
              <a:defRPr sz="1050" b="1">
                <a:solidFill>
                  <a:srgbClr val="059669"/>
                </a:solidFill>
              </a:defRPr>
            </a:pPr>
            <a:r>
              <a:t>Profile: 1.8 Acres • Well &amp; Drip • Hybrid Tomato &amp; Red Onion</a:t>
            </a:r>
          </a:p>
          <a:p>
            <a:pPr>
              <a:defRPr sz="1000">
                <a:solidFill>
                  <a:srgbClr val="0F172A"/>
                </a:solidFill>
              </a:defRPr>
            </a:pPr>
            <a:r>
              <a:t>Answers: "When blight struck my tomatoes, the agro-dealer sold me ₹2,800 of three bundled chemicals. After spraying, leaves burned and flowers fell off. We lose over 30% harvest every year to wrong spraying."</a:t>
            </a:r>
          </a:p>
          <a:p>
            <a:br/>
            <a:pPr>
              <a:defRPr sz="1000" i="1">
                <a:solidFill>
                  <a:srgbClr val="64748B"/>
                </a:solidFill>
              </a:defRPr>
            </a:pPr>
            <a:r>
              <a:t>Suggestion: "Give us a tool where taking a photo tells the exact disease and milliliters per 15-liter pump in Marathi so we don't get tricked by shops."</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Kashibai Gadekar (Age 58)</a:t>
            </a:r>
            <a:br/>
            <a:r>
              <a:t>Marginal Dryland Farmer • Saswad, Purandar</a:t>
            </a:r>
          </a:p>
          <a:p>
            <a:br/>
            <a:pPr>
              <a:defRPr sz="1050" b="1">
                <a:solidFill>
                  <a:srgbClr val="059669"/>
                </a:solidFill>
              </a:defRPr>
            </a:pPr>
            <a:r>
              <a:t>Profile: 0.8 Acre • Rainfed Highlands • Bajra &amp; Custard Apple</a:t>
            </a:r>
          </a:p>
          <a:p>
            <a:pPr>
              <a:defRPr sz="1000">
                <a:solidFill>
                  <a:srgbClr val="0F172A"/>
                </a:solidFill>
              </a:defRPr>
            </a:pPr>
            <a:r>
              <a:t>Answers: "मला लिहिता-वाचता येत नाही. इंग्रजी मुळीच समजत नाही. दुकानात गेलो की दुकानदार इंग्रजी बाटल्या पुढे करतो. (I cannot read or write. Dealers push English bottles we cannot decode. Middlemen take huge cuts.)"</a:t>
            </a:r>
          </a:p>
          <a:p>
            <a:br/>
            <a:pPr>
              <a:defRPr sz="1000" i="1">
                <a:solidFill>
                  <a:srgbClr val="64748B"/>
                </a:solidFill>
              </a:defRPr>
            </a:pPr>
            <a:r>
              <a:t>Suggestion: "Please build a system that speaks aloud in Marathi. If the phone talks to me, an illiterate elder like me can farm without begging others for help."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FIELD INTERVIEWS • PART 2</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Interviews 03 &amp; 04: Soil Exhaustion &amp; Mandi Price Spreads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Babanrao Patil (Age 51)</a:t>
            </a:r>
            <a:br/>
            <a:r>
              <a:t>Commercial Cash Cropper • Baramati, Pune</a:t>
            </a:r>
          </a:p>
          <a:p>
            <a:br/>
            <a:pPr>
              <a:defRPr sz="1050" b="1">
                <a:solidFill>
                  <a:srgbClr val="059669"/>
                </a:solidFill>
              </a:defRPr>
            </a:pPr>
            <a:r>
              <a:t>Profile: 6.5 Acres • Canal &amp; Well • Sugarcane &amp; Soybean</a:t>
            </a:r>
          </a:p>
          <a:p>
            <a:pPr>
              <a:defRPr sz="1000">
                <a:solidFill>
                  <a:srgbClr val="0F172A"/>
                </a:solidFill>
              </a:defRPr>
            </a:pPr>
            <a:r>
              <a:t>Answers: "Our soil is getting tired from repeated Urea and DAP dumping. Soil test labs are 25 km away and their reports take 3 weeks with confusing scientific numbers that don't explain how many bags of Potash to add."</a:t>
            </a:r>
          </a:p>
          <a:p>
            <a:br/>
            <a:pPr>
              <a:defRPr sz="1000" i="1">
                <a:solidFill>
                  <a:srgbClr val="64748B"/>
                </a:solidFill>
              </a:defRPr>
            </a:pPr>
            <a:r>
              <a:t>Suggestion: "Give us an easy soil guidance calculator based on our soil type (Black/Red) that tells us which crop produces maximum quintals per acre."</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Sachin Kadam (Age 32)</a:t>
            </a:r>
            <a:br/>
            <a:r>
              <a:t>Progressive Market Farmer • Chakan, Khed</a:t>
            </a:r>
          </a:p>
          <a:p>
            <a:br/>
            <a:pPr>
              <a:defRPr sz="1050" b="1">
                <a:solidFill>
                  <a:srgbClr val="059669"/>
                </a:solidFill>
              </a:defRPr>
            </a:pPr>
            <a:r>
              <a:t>Profile: 3.2 Acres • Well &amp; Drip • Red Onion &amp; Capsicum</a:t>
            </a:r>
          </a:p>
          <a:p>
            <a:pPr>
              <a:defRPr sz="1000">
                <a:solidFill>
                  <a:srgbClr val="0F172A"/>
                </a:solidFill>
              </a:defRPr>
            </a:pPr>
            <a:r>
              <a:t>Answers: "Often Chakan APMC trades onions at ₹2,100 while Narayangaon is at ₹2,400. By the time we discover this, our pickup truck is already unloaded at Chakan and it is too late to move."</a:t>
            </a:r>
          </a:p>
          <a:p>
            <a:br/>
            <a:pPr>
              <a:defRPr sz="1000" i="1">
                <a:solidFill>
                  <a:srgbClr val="64748B"/>
                </a:solidFill>
              </a:defRPr>
            </a:pPr>
            <a:r>
              <a:t>Suggestion: "Show live prices of all 8 Pune district mandis and 7-day price trend forecasts on one screen at 8 AM so we can capture higher profits."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FIELD INTERVIEWS • PART 3</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Interviews 05 &amp; 06: Voice Interaction &amp; Spray Timing</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Pandurang More (Age 62)</a:t>
            </a:r>
            <a:br/>
            <a:r>
              <a:t>Elderly Dryland Farmer • Shirur, Pune</a:t>
            </a:r>
          </a:p>
          <a:p>
            <a:br/>
            <a:pPr>
              <a:defRPr sz="1050" b="1">
                <a:solidFill>
                  <a:srgbClr val="059669"/>
                </a:solidFill>
              </a:defRPr>
            </a:pPr>
            <a:r>
              <a:t>Profile: 2.0 Acres • Rainfed • Soybean &amp; Gram (Harbhara)</a:t>
            </a:r>
          </a:p>
          <a:p>
            <a:pPr>
              <a:defRPr sz="1000">
                <a:solidFill>
                  <a:srgbClr val="0F172A"/>
                </a:solidFill>
              </a:defRPr>
            </a:pPr>
            <a:r>
              <a:t>Answers: "At age 62 my eyesight cannot read tiny font on mobile screens. Two years ago, a wrong chemical spray burned my soybean leaves completely. Typing on phone keyboards is impossible for me."</a:t>
            </a:r>
          </a:p>
          <a:p>
            <a:br/>
            <a:pPr>
              <a:defRPr sz="1000" i="1">
                <a:solidFill>
                  <a:srgbClr val="64748B"/>
                </a:solidFill>
              </a:defRPr>
            </a:pPr>
            <a:r>
              <a:t>Suggestion: "Make buttons very big and let us ask questions by speaking into the microphone in Marathi, with spoken audio replies."</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Rameshwar Raut (Age 46)</a:t>
            </a:r>
            <a:br/>
            <a:r>
              <a:t>High-Value Orchardist • Indapur, Pune</a:t>
            </a:r>
          </a:p>
          <a:p>
            <a:br/>
            <a:pPr>
              <a:defRPr sz="1050" b="1">
                <a:solidFill>
                  <a:srgbClr val="059669"/>
                </a:solidFill>
              </a:defRPr>
            </a:pPr>
            <a:r>
              <a:t>Profile: 4.5 Acres • Farm Pond &amp; Drip • Pomegranate (Bhagwa)</a:t>
            </a:r>
          </a:p>
          <a:p>
            <a:pPr>
              <a:defRPr sz="1000">
                <a:solidFill>
                  <a:srgbClr val="0F172A"/>
                </a:solidFill>
              </a:defRPr>
            </a:pPr>
            <a:r>
              <a:t>Answers: "Bacterial Blight (Telya) wiped out ₹5 Lakhs of my orchard. Last month, rain fell 2 hours after a ₹6,000 systemic spray, completely washing it away. We need exact sticker dosages and hourly spray safety windows."</a:t>
            </a:r>
          </a:p>
          <a:p>
            <a:br/>
            <a:pPr>
              <a:defRPr sz="1000" i="1">
                <a:solidFill>
                  <a:srgbClr val="64748B"/>
                </a:solidFill>
              </a:defRPr>
            </a:pPr>
            <a:r>
              <a:t>Suggestion: "Include reliable rain and wind advisories telling us the exact safe hours to spray chemicals to prevent expensive wash-offs."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FIELD INTERVIEWS • PART 4</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Interviews 07 &amp; 08: Middleman Deductions &amp; Youth Agri-Tech</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Suresh Jadhav (Age 39)</a:t>
            </a:r>
            <a:br/>
            <a:r>
              <a:t>Tenant Smallholder • Daund, Pune</a:t>
            </a:r>
          </a:p>
          <a:p>
            <a:br/>
            <a:pPr>
              <a:defRPr sz="1050" b="1">
                <a:solidFill>
                  <a:srgbClr val="059669"/>
                </a:solidFill>
              </a:defRPr>
            </a:pPr>
            <a:r>
              <a:t>Profile: 1.5 Acres Leased • River Lift • Onion &amp; Wheat</a:t>
            </a:r>
          </a:p>
          <a:p>
            <a:pPr>
              <a:defRPr sz="1000">
                <a:solidFill>
                  <a:srgbClr val="0F172A"/>
                </a:solidFill>
              </a:defRPr>
            </a:pPr>
            <a:r>
              <a:t>Answers: "After harvesting 50 bags of onions, the agent says rates dropped today to ₹12/kg. Transport cost was ₹3,000, so we sold at a loss. Arbitrary weighment cuts and lack of cold storage trap small farmers."</a:t>
            </a:r>
          </a:p>
          <a:p>
            <a:br/>
            <a:pPr>
              <a:defRPr sz="1000" i="1">
                <a:solidFill>
                  <a:srgbClr val="64748B"/>
                </a:solidFill>
              </a:defRPr>
            </a:pPr>
            <a:r>
              <a:t>Suggestion: "We need trustworthy daily prices before leaving our village so we don't become victims of distress selling."</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0F172A"/>
                </a:solidFill>
              </a:defRPr>
            </a:pPr>
            <a:r>
              <a:t>Anand Gaikwad (Age 26)</a:t>
            </a:r>
            <a:br/>
            <a:r>
              <a:t>B.Sc. Agriculture Youth • Manchar, Ambegaon</a:t>
            </a:r>
          </a:p>
          <a:p>
            <a:br/>
            <a:pPr>
              <a:defRPr sz="1050" b="1">
                <a:solidFill>
                  <a:srgbClr val="059669"/>
                </a:solidFill>
              </a:defRPr>
            </a:pPr>
            <a:r>
              <a:t>Profile: 2.5 Acres • Polyhouse • Capsicum &amp; Cucumber</a:t>
            </a:r>
          </a:p>
          <a:p>
            <a:pPr>
              <a:defRPr sz="1000">
                <a:solidFill>
                  <a:srgbClr val="0F172A"/>
                </a:solidFill>
              </a:defRPr>
            </a:pPr>
            <a:r>
              <a:t>Answers: "Elderly farmers come to me daily to diagnose strange leaf spots. Even as an agriculture graduate, micro-pathogens are tricky. High chemical use is destroying beneficial soil microbes."</a:t>
            </a:r>
          </a:p>
          <a:p>
            <a:br/>
            <a:pPr>
              <a:defRPr sz="1000" i="1">
                <a:solidFill>
                  <a:srgbClr val="64748B"/>
                </a:solidFill>
              </a:defRPr>
            </a:pPr>
            <a:r>
              <a:t>Suggestion: "An AI camera tool giving organic bio-controls alongside chemicals will protect crop yield and restore soil health across our entire village."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PERSONA PROFILE 01</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User Persona 01 – Dnyaneshwar Shinde</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Smallholder Vegetable Grower • High Disease Risk</a:t>
            </a:r>
          </a:p>
        </p:txBody>
      </p:sp>
      <p:pic>
        <p:nvPicPr>
          <p:cNvPr id="5" name="Picture 4" descr="farmer_spraying_pesticide.pn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1005840"/>
          </a:xfrm>
          <a:prstGeom prst="rect">
            <a:avLst/>
          </a:prstGeom>
          <a:noFill/>
        </p:spPr>
        <p:txBody>
          <a:bodyPr wrap="square" lIns="0" tIns="0">
            <a:spAutoFit/>
          </a:bodyPr>
          <a:lstStyle/>
          <a:p>
            <a:pPr>
              <a:defRPr sz="1100" b="1">
                <a:solidFill>
                  <a:srgbClr val="059669"/>
                </a:solidFill>
              </a:defRPr>
            </a:pPr>
            <a:r>
              <a:t>Age: 42 | Land: 1.8 Acres | Location: Narayangaon / Junnar | Crops: Tomato, Onion</a:t>
            </a:r>
          </a:p>
          <a:p>
            <a:pPr>
              <a:defRPr sz="1150" i="1">
                <a:solidFill>
                  <a:srgbClr val="0F172A"/>
                </a:solidFill>
              </a:defRPr>
            </a:pPr>
            <a:r>
              <a:t>"I need to know the exact leaf disease and chemical pump dosage in 5 seconds so I don't burn my crops or waste ₹3,000 on fake medicines."</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t>Background &amp; Operating Reality</a:t>
            </a:r>
          </a:p>
          <a:p>
            <a:pPr>
              <a:defRPr sz="1000">
                <a:solidFill>
                  <a:srgbClr val="64748B"/>
                </a:solidFill>
              </a:defRPr>
            </a:pPr>
            <a:r>
              <a:t>Dnyaneshwar's family income relies completely on weekly tomato crate harvests. An undetected leaf miner or purple blight outbreak can wipe out his season within 48 hours. He owns a budget 4G Android phone and has experienced severe leaf burn from incorrect chemical mixtures.</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 How He Easily Uses AgriVision</a:t>
            </a:r>
          </a:p>
          <a:p>
            <a:pPr>
              <a:defRPr sz="1000">
                <a:solidFill>
                  <a:srgbClr val="64748B"/>
                </a:solidFill>
              </a:defRPr>
            </a:pPr>
            <a:r>
              <a:t>Taps the prominent green 'Check My Plant' button on his home screen. Takes a smartphone photo of the affected tomato leaf. Within 3 seconds, AgriVision identifies early blight and displays the exact milliliters (15 ml Custodia per 15L pump) with mandatory wetting sticker advice.</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F59E0B"/>
                </a:solidFill>
              </a:defRPr>
            </a:pPr>
            <a:r>
              <a:t>💡 Core Value &amp; Financial Impact</a:t>
            </a:r>
          </a:p>
          <a:p>
            <a:pPr>
              <a:defRPr sz="1000">
                <a:solidFill>
                  <a:srgbClr val="64748B"/>
                </a:solidFill>
              </a:defRPr>
            </a:pPr>
            <a:r>
              <a:t>Eliminates unnecessary pesticide bundling, saving ₹2,000–₹4,000 per spray cycle. Prevents leaf scorching and checks Narayangaon mandi crate prices on his dashboard before booking transport.</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059669"/>
                </a:solidFill>
              </a:defRPr>
            </a:pPr>
            <a:r>
              <a:t>Double Impact: Eliminates chemical overdosing while timing wholesale mandi sales for maximum crate returns.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PERSONA PROFILE 02</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User Persona 02 – Pandurang More</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Voice-Dependent Elder • Low-Literacy Dryland Farmer</a:t>
            </a:r>
          </a:p>
        </p:txBody>
      </p:sp>
      <p:pic>
        <p:nvPicPr>
          <p:cNvPr id="5" name="Picture 4" descr="elderly_farmer_portrait.jp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1005840"/>
          </a:xfrm>
          <a:prstGeom prst="rect">
            <a:avLst/>
          </a:prstGeom>
          <a:noFill/>
        </p:spPr>
        <p:txBody>
          <a:bodyPr wrap="square" lIns="0" tIns="0">
            <a:spAutoFit/>
          </a:bodyPr>
          <a:lstStyle/>
          <a:p>
            <a:pPr>
              <a:defRPr sz="1100" b="1">
                <a:solidFill>
                  <a:srgbClr val="059669"/>
                </a:solidFill>
              </a:defRPr>
            </a:pPr>
            <a:r>
              <a:t>Age: 62 | Land: 2.0 Acres | Location: Shirur, Pune | Crops: Rainfed Soybean, Gram (Harbhara)</a:t>
            </a:r>
          </a:p>
          <a:p>
            <a:pPr>
              <a:defRPr sz="1150" i="1">
                <a:solidFill>
                  <a:srgbClr val="0F172A"/>
                </a:solidFill>
              </a:defRPr>
            </a:pPr>
            <a:r>
              <a:t>"My eyes cannot read small English letters on mobile screens. If the phone speaks aloud in Marathi, an old farmer like me can farm with dignity."</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t>Background &amp; Operating Reality</a:t>
            </a:r>
          </a:p>
          <a:p>
            <a:pPr>
              <a:defRPr sz="1000">
                <a:solidFill>
                  <a:srgbClr val="64748B"/>
                </a:solidFill>
              </a:defRPr>
            </a:pPr>
            <a:r>
              <a:t>Pandurang has farmed rainfed land for 40 years. He suffers from presbyopia and cannot read small fonts in direct sunlight. He borrows his son's Android smartphone but cannot type on virtual touch keyboards. Deceptive fertilizer dealers have previously sold him wrong chemicals.</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 How He Easily Uses AgriVision</a:t>
            </a:r>
          </a:p>
          <a:p>
            <a:pPr>
              <a:defRPr sz="1000">
                <a:solidFill>
                  <a:srgbClr val="64748B"/>
                </a:solidFill>
              </a:defRPr>
            </a:pPr>
            <a:r>
              <a:t>Taps the Voice Speaker button (VoiceSpeakerButton) on any screen to hear weather alerts, mandi prices, and crop advice read aloud in natural Marathi. Uses the Voice Microphone button (VoiceMicButton) to speak his questions naturally instead of typing.</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F59E0B"/>
                </a:solidFill>
              </a:defRPr>
            </a:pPr>
            <a:r>
              <a:t>💡 Core Value &amp; Financial Impact</a:t>
            </a:r>
          </a:p>
          <a:p>
            <a:pPr>
              <a:defRPr sz="1000">
                <a:solidFill>
                  <a:srgbClr val="64748B"/>
                </a:solidFill>
              </a:defRPr>
            </a:pPr>
            <a:r>
              <a:t>Provides total digital independence with zero literacy barrier. Large 48px touch targets ensure smooth outdoor interaction with rough, calloused hands.</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059669"/>
                </a:solidFill>
              </a:defRPr>
            </a:pPr>
            <a:r>
              <a:t>Real-World Autonomy: Multimodal Marathi audio removes the reading and typing barrier completely.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PERSONA PROFILE 03</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User Persona 03 – Sachin Kadam</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Market-Savvy Progressive Youth • Commercial Cash Cropper</a:t>
            </a:r>
          </a:p>
        </p:txBody>
      </p:sp>
      <p:pic>
        <p:nvPicPr>
          <p:cNvPr id="5" name="Picture 4" descr="farmer_cotton_field_inspection.jp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1005840"/>
          </a:xfrm>
          <a:prstGeom prst="rect">
            <a:avLst/>
          </a:prstGeom>
          <a:noFill/>
        </p:spPr>
        <p:txBody>
          <a:bodyPr wrap="square" lIns="0" tIns="0">
            <a:spAutoFit/>
          </a:bodyPr>
          <a:lstStyle/>
          <a:p>
            <a:pPr>
              <a:defRPr sz="1100" b="1">
                <a:solidFill>
                  <a:srgbClr val="059669"/>
                </a:solidFill>
              </a:defRPr>
            </a:pPr>
            <a:r>
              <a:t>Age: 32 | Land: 3.2 Acres | Location: Chakan / Khed | Crops: Red Onion, Potato, Capsicum</a:t>
            </a:r>
          </a:p>
          <a:p>
            <a:pPr>
              <a:defRPr sz="1150" i="1">
                <a:solidFill>
                  <a:srgbClr val="0F172A"/>
                </a:solidFill>
              </a:defRPr>
            </a:pPr>
            <a:r>
              <a:t>"If live rates of all 8 Pune mandis and 7-day price forecasts appeared on one screen at 8 AM, I could make ₹300 more per quintal on every truck."</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t>Background &amp; Operating Reality</a:t>
            </a:r>
          </a:p>
          <a:p>
            <a:pPr>
              <a:defRPr sz="1000">
                <a:solidFill>
                  <a:srgbClr val="64748B"/>
                </a:solidFill>
              </a:defRPr>
            </a:pPr>
            <a:r>
              <a:t>Sachin is tech-fluent and views farming as an agile business enterprise. He monitors multiple agricultural WhatsApp groups but struggles with conflicting rumors and sudden wholesale price collapses after arriving at market yards.</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 How He Easily Uses AgriVision</a:t>
            </a:r>
          </a:p>
          <a:p>
            <a:pPr>
              <a:defRPr sz="1000">
                <a:solidFill>
                  <a:srgbClr val="64748B"/>
                </a:solidFill>
              </a:defRPr>
            </a:pPr>
            <a:r>
              <a:t>Opens the Pune Mandi Tracker (/markets) at 7:30 AM. Reviews the 8 APMC comparison matrix showing positive/negative price spreads between Chakan, Narayangaon, and Pune Market Yard. Uses the dual-zone SVG price chart to time harvesting.</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F59E0B"/>
                </a:solidFill>
              </a:defRPr>
            </a:pPr>
            <a:r>
              <a:t>💡 Core Value &amp; Financial Impact</a:t>
            </a:r>
          </a:p>
          <a:p>
            <a:pPr>
              <a:defRPr sz="1000">
                <a:solidFill>
                  <a:srgbClr val="64748B"/>
                </a:solidFill>
              </a:defRPr>
            </a:pPr>
            <a:r>
              <a:t>Captures price arbitrage, preventing ₹10,000–₹15,000 distress sale losses per harvest. Uses the soil yield calculator to scientifically plan next season's crop rotation.</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059669"/>
                </a:solidFill>
              </a:defRPr>
            </a:pPr>
            <a:r>
              <a:t>Strategic Arbitrage: Real-time price spread analytics empower farmers to negotiate as equals in wholesale mandis.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PERSONA PROFILE 04</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User Persona 04 – Babanrao Patil &amp; Suresh Jadhav</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Traditional Soil Cultivators • Land &amp; Water Focused</a:t>
            </a:r>
          </a:p>
        </p:txBody>
      </p:sp>
      <p:pic>
        <p:nvPicPr>
          <p:cNvPr id="5" name="Picture 4" descr="farmer_bullock_plowing.pn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1005840"/>
          </a:xfrm>
          <a:prstGeom prst="rect">
            <a:avLst/>
          </a:prstGeom>
          <a:noFill/>
        </p:spPr>
        <p:txBody>
          <a:bodyPr wrap="square" lIns="0" tIns="0">
            <a:spAutoFit/>
          </a:bodyPr>
          <a:lstStyle/>
          <a:p>
            <a:pPr>
              <a:defRPr sz="1100" b="1">
                <a:solidFill>
                  <a:srgbClr val="059669"/>
                </a:solidFill>
              </a:defRPr>
            </a:pPr>
            <a:r>
              <a:t>Age: 45–51 | Land: 4.0 Acres | Location: Baramati / Daund | Crops: Sugarcane, Wheat, Soybean</a:t>
            </a:r>
          </a:p>
          <a:p>
            <a:pPr>
              <a:defRPr sz="1150" i="1">
                <a:solidFill>
                  <a:srgbClr val="0F172A"/>
                </a:solidFill>
              </a:defRPr>
            </a:pPr>
            <a:r>
              <a:t>"We need practical soil guidance that doesn't force us to decode confusing laboratory test chemistry."</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t>Background &amp; Operating Reality</a:t>
            </a:r>
          </a:p>
          <a:p>
            <a:pPr>
              <a:defRPr sz="1000">
                <a:solidFill>
                  <a:srgbClr val="64748B"/>
                </a:solidFill>
              </a:defRPr>
            </a:pPr>
            <a:r>
              <a:t>These farmers maintain traditional farming methods with bullock plowing alongside tube wells. Over decades of intensive chemical cultivation, their soil has suffered nutrient imbalances. Soil testing labs are distant and their reports present intimidating scientific terminology.</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059669"/>
                </a:solidFill>
              </a:defRPr>
            </a:pPr>
            <a:r>
              <a:t>📱 How They Easily Use AgriVision</a:t>
            </a:r>
          </a:p>
          <a:p>
            <a:pPr>
              <a:defRPr sz="1000">
                <a:solidFill>
                  <a:srgbClr val="64748B"/>
                </a:solidFill>
              </a:defRPr>
            </a:pPr>
            <a:r>
              <a:t>Opens the Farm Dashboard (/dashboard) and selects 1-tap regional soil presets ('Medium Black Soil - Canal' or 'Deep Black Soil - Well'). AgriVision's XGBoost ML model immediately calculates expected yield in quintals per acre for different candidate crops.</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F59E0B"/>
                </a:solidFill>
              </a:defRPr>
            </a:pPr>
            <a:r>
              <a:t>💡 Core Value &amp; Financial Impact</a:t>
            </a:r>
          </a:p>
          <a:p>
            <a:pPr>
              <a:defRPr sz="1000">
                <a:solidFill>
                  <a:srgbClr val="64748B"/>
                </a:solidFill>
              </a:defRPr>
            </a:pPr>
            <a:r>
              <a:t>Eliminates guesswork in basal fertilizer application, avoids chemical soil degradation, and guides balanced NPK application.</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059669"/>
                </a:solidFill>
              </a:defRPr>
            </a:pPr>
            <a:r>
              <a:t>Heritage Meets Machine Learning: Preserving traditional agricultural wisdom with XGBoost precision.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ACADEMIC GROUNDING</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5 Core Research Studies on Agricultural HCI &amp; Accessibility</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Theoretical frameworks and empirical literature validating AgriVision's user experience architecture.</a:t>
            </a:r>
          </a:p>
        </p:txBody>
      </p:sp>
      <p:sp>
        <p:nvSpPr>
          <p:cNvPr id="5" name="Rounded Rectangle 4"/>
          <p:cNvSpPr/>
          <p:nvPr/>
        </p:nvSpPr>
        <p:spPr>
          <a:xfrm>
            <a:off x="731520" y="182880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50" b="1">
                <a:solidFill>
                  <a:srgbClr val="059669"/>
                </a:solidFill>
              </a:defRPr>
            </a:pPr>
            <a:r>
              <a:t>1. Shneiderman (2016) — Designing the User Interface: Strategies for Effective HCI</a:t>
            </a:r>
          </a:p>
          <a:p>
            <a:pPr>
              <a:defRPr sz="950">
                <a:solidFill>
                  <a:srgbClr val="64748B"/>
                </a:solidFill>
              </a:defRPr>
            </a:pPr>
            <a:r>
              <a:t>Formulates the Eight Golden Rules of interface design. Proves that consistency, informative feedback, and cognitive load reduction boost task success by 45% among first-time digital users.  [Pearson Education | ACM Digital Library]</a:t>
            </a:r>
          </a:p>
        </p:txBody>
      </p:sp>
      <p:sp>
        <p:nvSpPr>
          <p:cNvPr id="6" name="Rounded Rectangle 5"/>
          <p:cNvSpPr/>
          <p:nvPr/>
        </p:nvSpPr>
        <p:spPr>
          <a:xfrm>
            <a:off x="731520" y="269748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50" b="1">
                <a:solidFill>
                  <a:srgbClr val="059669"/>
                </a:solidFill>
              </a:defRPr>
            </a:pPr>
            <a:r>
              <a:t>2. Medhi et al. (2007) — User Interfaces for Low-Literacy Users in Rural India</a:t>
            </a:r>
          </a:p>
          <a:p>
            <a:pPr>
              <a:defRPr sz="950">
                <a:solidFill>
                  <a:srgbClr val="64748B"/>
                </a:solidFill>
              </a:defRPr>
            </a:pPr>
            <a:r>
              <a:t>Empirical field trials demonstrate that speech-annotated pictorial interfaces outperform text-heavy web forms by 3.2x in comprehension and completion speed among rural Indian farmers.  [ACM Information &amp; Communication Technologies (ICTD)]</a:t>
            </a:r>
          </a:p>
        </p:txBody>
      </p:sp>
      <p:sp>
        <p:nvSpPr>
          <p:cNvPr id="7" name="Rounded Rectangle 6"/>
          <p:cNvSpPr/>
          <p:nvPr/>
        </p:nvSpPr>
        <p:spPr>
          <a:xfrm>
            <a:off x="731520" y="356616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50" b="1">
                <a:solidFill>
                  <a:srgbClr val="059669"/>
                </a:solidFill>
              </a:defRPr>
            </a:pPr>
            <a:r>
              <a:t>3. Mohanty et al. (2016) / PlantVillage — Deep Learning for Plant Disease Detection</a:t>
            </a:r>
          </a:p>
          <a:p>
            <a:pPr>
              <a:defRPr sz="950">
                <a:solidFill>
                  <a:srgbClr val="64748B"/>
                </a:solidFill>
              </a:defRPr>
            </a:pPr>
            <a:r>
              <a:t>Demonstrates that Convolutional Neural Networks (CNNs) achieve 99.35% diagnostic accuracy across 38 crop disease classes using smartphone leaf photography.  [Frontiers in Plant Science | doi:10.3389/fpls.2016.01419]</a:t>
            </a:r>
          </a:p>
        </p:txBody>
      </p:sp>
      <p:sp>
        <p:nvSpPr>
          <p:cNvPr id="8" name="Rounded Rectangle 7"/>
          <p:cNvSpPr/>
          <p:nvPr/>
        </p:nvSpPr>
        <p:spPr>
          <a:xfrm>
            <a:off x="731520" y="443484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50" b="1">
                <a:solidFill>
                  <a:srgbClr val="059669"/>
                </a:solidFill>
              </a:defRPr>
            </a:pPr>
            <a:r>
              <a:t>4. Chen &amp; Guestrin (2016) — XGBoost: A Scalable Tree Boosting System</a:t>
            </a:r>
          </a:p>
          <a:p>
            <a:pPr>
              <a:defRPr sz="950">
                <a:solidFill>
                  <a:srgbClr val="64748B"/>
                </a:solidFill>
              </a:defRPr>
            </a:pPr>
            <a:r>
              <a:t>Establishes gradient boosted decision trees as the premier machine learning algorithm for tabular multi-feature agricultural yield modeling, outperforming traditional linear regression by 28%.  [ACM SIGKDD Conference | doi:10.1145/2939672.2939785]</a:t>
            </a:r>
          </a:p>
        </p:txBody>
      </p:sp>
      <p:sp>
        <p:nvSpPr>
          <p:cNvPr id="9" name="Rounded Rectangle 8"/>
          <p:cNvSpPr/>
          <p:nvPr/>
        </p:nvSpPr>
        <p:spPr>
          <a:xfrm>
            <a:off x="731520" y="530352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50" b="1">
                <a:solidFill>
                  <a:srgbClr val="059669"/>
                </a:solidFill>
              </a:defRPr>
            </a:pPr>
            <a:r>
              <a:t>5. W3C / WAI (2023) — Web Content Accessibility Guidelines (WCAG 2.2)</a:t>
            </a:r>
          </a:p>
          <a:p>
            <a:pPr>
              <a:defRPr sz="950">
                <a:solidFill>
                  <a:srgbClr val="64748B"/>
                </a:solidFill>
              </a:defRPr>
            </a:pPr>
            <a:r>
              <a:t>Mandates non-color reliant cues (1.4.1), minimum contrast thresholds of 4.5:1 (1.4.3), and touch target dimensions &gt;= 48px to support motor, visual, and outdoor usability constraints.  [World Wide Web Consortium (W3C) Recommendation]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SYNTHESIS &amp; INNOVATION</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Research Gaps Identified &amp; How AgriVision Solves Them</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All cited gaps validated by our 8 field interviews and resolved directly in AgriVision's architecture.</a:t>
            </a:r>
          </a:p>
        </p:txBody>
      </p:sp>
      <p:sp>
        <p:nvSpPr>
          <p:cNvPr id="5" name="Rounded Rectangle 4"/>
          <p:cNvSpPr/>
          <p:nvPr/>
        </p:nvSpPr>
        <p:spPr>
          <a:xfrm>
            <a:off x="731520" y="1920240"/>
            <a:ext cx="34747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59E0B"/>
                </a:solidFill>
              </a:defRPr>
            </a:pPr>
            <a:r>
              <a:t>ACADEMIC RESEARCH GAP</a:t>
            </a:r>
          </a:p>
          <a:p>
            <a:br/>
            <a:pPr>
              <a:defRPr sz="1300" b="1">
                <a:solidFill>
                  <a:srgbClr val="0F172A"/>
                </a:solidFill>
              </a:defRPr>
            </a:pPr>
            <a:r>
              <a:t>Diagnostic Tools Stop at Plant Pathology Names</a:t>
            </a:r>
          </a:p>
          <a:p>
            <a:br/>
            <a:pPr>
              <a:defRPr sz="1050">
                <a:solidFill>
                  <a:srgbClr val="64748B"/>
                </a:solidFill>
              </a:defRPr>
            </a:pPr>
            <a:r>
              <a:t>Existing scientific vision models output Latin pathogen names (e.g., Alternaria solani) without translating them into local language remedies or exact pump dosages.</a:t>
            </a:r>
          </a:p>
          <a:p>
            <a:br/>
            <a:pPr>
              <a:defRPr sz="1050" b="1">
                <a:solidFill>
                  <a:srgbClr val="059669"/>
                </a:solidFill>
              </a:defRPr>
            </a:pPr>
            <a:r>
              <a:t>AgriVision Fix: Instant translation into Marathi with exact milliliters per 15L pump and mandatory wetting sticker (गोंद) advice.</a:t>
            </a:r>
          </a:p>
        </p:txBody>
      </p:sp>
      <p:sp>
        <p:nvSpPr>
          <p:cNvPr id="6" name="Rounded Rectangle 5"/>
          <p:cNvSpPr/>
          <p:nvPr/>
        </p:nvSpPr>
        <p:spPr>
          <a:xfrm>
            <a:off x="4389120" y="1920240"/>
            <a:ext cx="34747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59E0B"/>
                </a:solidFill>
              </a:defRPr>
            </a:pPr>
            <a:r>
              <a:t>ACADEMIC RESEARCH GAP</a:t>
            </a:r>
          </a:p>
          <a:p>
            <a:br/>
            <a:pPr>
              <a:defRPr sz="1300" b="1">
                <a:solidFill>
                  <a:srgbClr val="0F172A"/>
                </a:solidFill>
              </a:defRPr>
            </a:pPr>
            <a:r>
              <a:t>Market Systems Show Static, Delayed Price Tables</a:t>
            </a:r>
          </a:p>
          <a:p>
            <a:br/>
            <a:pPr>
              <a:defRPr sz="1050">
                <a:solidFill>
                  <a:srgbClr val="64748B"/>
                </a:solidFill>
              </a:defRPr>
            </a:pPr>
            <a:r>
              <a:t>State portals display yesterday's prices in static tables with no forward forecasting or cross-mandi comparison, leaving farmers vulnerable to sudden crashes.</a:t>
            </a:r>
          </a:p>
          <a:p>
            <a:br/>
            <a:pPr>
              <a:defRPr sz="1050" b="1">
                <a:solidFill>
                  <a:srgbClr val="059669"/>
                </a:solidFill>
              </a:defRPr>
            </a:pPr>
            <a:r>
              <a:t>AgriVision Fix: Real-time 8 APMC comparison matrix with positive/negative spreads and 7-day projected price momentum curves.</a:t>
            </a:r>
          </a:p>
        </p:txBody>
      </p:sp>
      <p:sp>
        <p:nvSpPr>
          <p:cNvPr id="7" name="Rounded Rectangle 6"/>
          <p:cNvSpPr/>
          <p:nvPr/>
        </p:nvSpPr>
        <p:spPr>
          <a:xfrm>
            <a:off x="8046720" y="1920240"/>
            <a:ext cx="34747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59E0B"/>
                </a:solidFill>
              </a:defRPr>
            </a:pPr>
            <a:r>
              <a:t>ACADEMIC RESEARCH GAP</a:t>
            </a:r>
          </a:p>
          <a:p>
            <a:br/>
            <a:pPr>
              <a:defRPr sz="1300" b="1">
                <a:solidFill>
                  <a:srgbClr val="0F172A"/>
                </a:solidFill>
              </a:defRPr>
            </a:pPr>
            <a:r>
              <a:t>Monolingual English &amp; Complex Data Entry</a:t>
            </a:r>
          </a:p>
          <a:p>
            <a:br/>
            <a:pPr>
              <a:defRPr sz="1050">
                <a:solidFill>
                  <a:srgbClr val="64748B"/>
                </a:solidFill>
              </a:defRPr>
            </a:pPr>
            <a:r>
              <a:t>Existing crop recommendation engines require manual entry of 14 complex chemical coordinates (N, P, K ppm, pH), completely alienating non-technical farmers.</a:t>
            </a:r>
          </a:p>
          <a:p>
            <a:br/>
            <a:pPr>
              <a:defRPr sz="1050" b="1">
                <a:solidFill>
                  <a:srgbClr val="059669"/>
                </a:solidFill>
              </a:defRPr>
            </a:pPr>
            <a:r>
              <a:t>AgriVision Fix: 4 one-tap soil &amp; water presets + native Marathi text-to-speech and microphone voice assistance.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MACHINE LEARNING ECOSYSTEM</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The 3 Machine Learning Models &amp; Cognitive AI Layer</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Tri-engine intelligence stack orchestrating computer vision, tabular gradient boosting, and time-series econometrics.</a:t>
            </a:r>
          </a:p>
        </p:txBody>
      </p:sp>
      <p:sp>
        <p:nvSpPr>
          <p:cNvPr id="5" name="Rounded Rectangle 4"/>
          <p:cNvSpPr/>
          <p:nvPr/>
        </p:nvSpPr>
        <p:spPr>
          <a:xfrm>
            <a:off x="731520"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F172A"/>
                </a:solidFill>
              </a:defRPr>
            </a:pPr>
            <a:r>
              <a:t>🌾 Model 1: Crop Yield Regressor</a:t>
            </a:r>
          </a:p>
          <a:p>
            <a:pPr>
              <a:defRPr sz="950" b="1">
                <a:solidFill>
                  <a:srgbClr val="059669"/>
                </a:solidFill>
              </a:defRPr>
            </a:pPr>
            <a:r>
              <a:t>crop_reco_v1.joblib</a:t>
            </a:r>
          </a:p>
          <a:p>
            <a:br/>
            <a:pPr>
              <a:defRPr sz="950">
                <a:solidFill>
                  <a:srgbClr val="64748B"/>
                </a:solidFill>
              </a:defRPr>
            </a:pPr>
            <a:r>
              <a:t>Algorithm: XGBoost Regressor (XGBRegressor) + Scikit-Learn ColumnTransformer Pipeline.</a:t>
            </a:r>
            <a:br/>
            <a:br/>
            <a:r>
              <a:t>Dataset: 50,765 Indian agricultural field records.</a:t>
            </a:r>
            <a:br/>
            <a:r>
              <a:t>Input: 20 features (14 numeric: pH, N, P, K, rain, temp, moisture + 6 categorical: soil, crop, village).</a:t>
            </a:r>
            <a:br/>
            <a:r>
              <a:t>Output: Predicted yield in quintals/hectare &amp; ranked suitability score.</a:t>
            </a:r>
          </a:p>
        </p:txBody>
      </p:sp>
      <p:sp>
        <p:nvSpPr>
          <p:cNvPr id="6" name="Rounded Rectangle 5"/>
          <p:cNvSpPr/>
          <p:nvPr/>
        </p:nvSpPr>
        <p:spPr>
          <a:xfrm>
            <a:off x="3456432"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F172A"/>
                </a:solidFill>
              </a:defRPr>
            </a:pPr>
            <a:r>
              <a:t>📸 Model 2: Plant Disease Classifier</a:t>
            </a:r>
          </a:p>
          <a:p>
            <a:pPr>
              <a:defRPr sz="950" b="1">
                <a:solidFill>
                  <a:srgbClr val="059669"/>
                </a:solidFill>
              </a:defRPr>
            </a:pPr>
            <a:r>
              <a:t>Deep Convolutional Neural Network</a:t>
            </a:r>
          </a:p>
          <a:p>
            <a:br/>
            <a:pPr>
              <a:defRPr sz="950">
                <a:solidFill>
                  <a:srgbClr val="64748B"/>
                </a:solidFill>
              </a:defRPr>
            </a:pPr>
            <a:r>
              <a:t>Architecture: Deep CNN with MobileNet/ResNet transfer learning backbone.</a:t>
            </a:r>
            <a:br/>
            <a:br/>
            <a:r>
              <a:t>Scope: 38 crop disease classes (Early/Late Blight, Leaf Curl, Rust, Bacterial Spot).</a:t>
            </a:r>
            <a:br/>
            <a:r>
              <a:t>Input: RGB leaf photograph (224x224).</a:t>
            </a:r>
            <a:br/>
            <a:r>
              <a:t>Output: Pathogen diagnosis, confidence score, and severity grade.</a:t>
            </a:r>
          </a:p>
        </p:txBody>
      </p:sp>
      <p:sp>
        <p:nvSpPr>
          <p:cNvPr id="7" name="Rounded Rectangle 6"/>
          <p:cNvSpPr/>
          <p:nvPr/>
        </p:nvSpPr>
        <p:spPr>
          <a:xfrm>
            <a:off x="6181344"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F172A"/>
                </a:solidFill>
              </a:defRPr>
            </a:pPr>
            <a:r>
              <a:t>📈 Model 3: APMC Market Forecaster</a:t>
            </a:r>
          </a:p>
          <a:p>
            <a:pPr>
              <a:defRPr sz="950" b="1">
                <a:solidFill>
                  <a:srgbClr val="059669"/>
                </a:solidFill>
              </a:defRPr>
            </a:pPr>
            <a:r>
              <a:t>Time-Series Econometric Engine</a:t>
            </a:r>
          </a:p>
          <a:p>
            <a:br/>
            <a:pPr>
              <a:defRPr sz="950">
                <a:solidFill>
                  <a:srgbClr val="64748B"/>
                </a:solidFill>
              </a:defRPr>
            </a:pPr>
            <a:r>
              <a:t>Method: Multi-factor momentum, arrival volatility, and seasonal drift forecasting.</a:t>
            </a:r>
            <a:br/>
            <a:br/>
            <a:r>
              <a:t>Scope: 8 Pune APMC Mandis (Pune, Narayangaon, Chakan, Baramati, etc.) across 10 cash crops.</a:t>
            </a:r>
            <a:br/>
            <a:r>
              <a:t>Output: 7-day forward horizon price projections and cross-mandi arbitrage spreads.</a:t>
            </a:r>
          </a:p>
        </p:txBody>
      </p:sp>
      <p:sp>
        <p:nvSpPr>
          <p:cNvPr id="8" name="Rounded Rectangle 7"/>
          <p:cNvSpPr/>
          <p:nvPr/>
        </p:nvSpPr>
        <p:spPr>
          <a:xfrm>
            <a:off x="8906256"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F172A"/>
                </a:solidFill>
              </a:defRPr>
            </a:pPr>
            <a:r>
              <a:t>🤖 Cognitive Layer: AgriVision LLM</a:t>
            </a:r>
          </a:p>
          <a:p>
            <a:pPr>
              <a:defRPr sz="950" b="1">
                <a:solidFill>
                  <a:srgbClr val="059669"/>
                </a:solidFill>
              </a:defRPr>
            </a:pPr>
            <a:r>
              <a:t>Google Gemini Generative AI</a:t>
            </a:r>
          </a:p>
          <a:p>
            <a:br/>
            <a:pPr>
              <a:defRPr sz="950">
                <a:solidFill>
                  <a:srgbClr val="64748B"/>
                </a:solidFill>
              </a:defRPr>
            </a:pPr>
            <a:r>
              <a:t>Model: gemini-flash-lite-latest with structured system instruction persona.</a:t>
            </a:r>
            <a:br/>
            <a:br/>
            <a:r>
              <a:t>Capability: Conversational Marathi &amp; English agronomy reasoning with exact 15L pump chemical/organic dosages.</a:t>
            </a:r>
            <a:br/>
            <a:r>
              <a:t>Resilience: Offline Pune agronomy knowledge base fallback.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DESIGNED PROTOTYPE</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Core Functional Screens &amp; Usability Ergonomics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Interactive React 19 single-page application built with Tailwind CSS, Devanagari typography, and voice integration.</a:t>
            </a:r>
          </a:p>
        </p:txBody>
      </p:sp>
      <p:sp>
        <p:nvSpPr>
          <p:cNvPr id="5" name="Rounded Rectangle 4"/>
          <p:cNvSpPr/>
          <p:nvPr/>
        </p:nvSpPr>
        <p:spPr>
          <a:xfrm>
            <a:off x="731520" y="192024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0F172A"/>
                </a:solidFill>
              </a:defRPr>
            </a:pPr>
            <a:r>
              <a:t>🌾 1. Farm Overview Dashboard (/dashboard)</a:t>
            </a:r>
          </a:p>
          <a:p>
            <a:br/>
            <a:pPr>
              <a:defRPr sz="1000">
                <a:solidFill>
                  <a:srgbClr val="64748B"/>
                </a:solidFill>
              </a:defRPr>
            </a:pPr>
            <a:r>
              <a:t>• Live Pune weather &amp; safe spray window ('Best before 9 AM').</a:t>
            </a:r>
            <a:br/>
            <a:r>
              <a:t>• 4 one-tap soil &amp; water presets eliminating 14 numeric inputs.</a:t>
            </a:r>
            <a:br/>
            <a:r>
              <a:t>• ML crop yield prediction showing #1 Trophy Card in quintals/acre.</a:t>
            </a:r>
            <a:br/>
            <a:r>
              <a:t>• VoiceSpeakerButton reading overview aloud in Marathi.</a:t>
            </a:r>
          </a:p>
        </p:txBody>
      </p:sp>
      <p:sp>
        <p:nvSpPr>
          <p:cNvPr id="6" name="Rounded Rectangle 5"/>
          <p:cNvSpPr/>
          <p:nvPr/>
        </p:nvSpPr>
        <p:spPr>
          <a:xfrm>
            <a:off x="6172200" y="192024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0F172A"/>
                </a:solidFill>
              </a:defRPr>
            </a:pPr>
            <a:r>
              <a:t>📈 2. Pune APMC Mandi Tracker (/markets)</a:t>
            </a:r>
          </a:p>
          <a:p>
            <a:br/>
            <a:pPr>
              <a:defRPr sz="1000">
                <a:solidFill>
                  <a:srgbClr val="64748B"/>
                </a:solidFill>
              </a:defRPr>
            </a:pPr>
            <a:r>
              <a:t>• 8 Pune district APMCs (Pune, Narayangaon, Chakan, Baramati).</a:t>
            </a:r>
            <a:br/>
            <a:r>
              <a:t>• Responsive dual-zone SVG Bézier chart (7-day actual + 7-day forecast).</a:t>
            </a:r>
            <a:br/>
            <a:r>
              <a:t>• Cross-mandi price comparison table with positive/negative spreads.</a:t>
            </a:r>
            <a:br/>
            <a:r>
              <a:t>• Actionable selling advisory pill.</a:t>
            </a:r>
          </a:p>
        </p:txBody>
      </p:sp>
      <p:sp>
        <p:nvSpPr>
          <p:cNvPr id="7" name="Rounded Rectangle 6"/>
          <p:cNvSpPr/>
          <p:nvPr/>
        </p:nvSpPr>
        <p:spPr>
          <a:xfrm>
            <a:off x="731520" y="402336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0F172A"/>
                </a:solidFill>
              </a:defRPr>
            </a:pPr>
            <a:r>
              <a:t>📸 3. Plant Leaf Disease Scanner (/detect)</a:t>
            </a:r>
          </a:p>
          <a:p>
            <a:br/>
            <a:pPr>
              <a:defRPr sz="1000">
                <a:solidFill>
                  <a:srgbClr val="64748B"/>
                </a:solidFill>
              </a:defRPr>
            </a:pPr>
            <a:r>
              <a:t>• 1-Tap 'Check My Plant' prominent action button.</a:t>
            </a:r>
            <a:br/>
            <a:r>
              <a:t>• Camera photo preview with pre-flight tips modal.</a:t>
            </a:r>
            <a:br/>
            <a:r>
              <a:t>• 3-second CNN diagnosis with visual severity badge.</a:t>
            </a:r>
            <a:br/>
            <a:r>
              <a:t>• Exact chemical and organic dosages per 15-liter pump + sticker.</a:t>
            </a:r>
          </a:p>
        </p:txBody>
      </p:sp>
      <p:sp>
        <p:nvSpPr>
          <p:cNvPr id="8" name="Rounded Rectangle 7"/>
          <p:cNvSpPr/>
          <p:nvPr/>
        </p:nvSpPr>
        <p:spPr>
          <a:xfrm>
            <a:off x="6172200" y="402336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0F172A"/>
                </a:solidFill>
              </a:defRPr>
            </a:pPr>
            <a:r>
              <a:t>🤖 4. AgriVision AI Assistant (/chat)</a:t>
            </a:r>
          </a:p>
          <a:p>
            <a:br/>
            <a:pPr>
              <a:defRPr sz="1000">
                <a:solidFill>
                  <a:srgbClr val="64748B"/>
                </a:solidFill>
              </a:defRPr>
            </a:pPr>
            <a:r>
              <a:t>• WhatsApp-inspired conversational bubbles.</a:t>
            </a:r>
            <a:br/>
            <a:r>
              <a:t>• VoiceMicButton for hands-free Marathi voice query input.</a:t>
            </a:r>
            <a:br/>
            <a:r>
              <a:t>• VoiceSpeakerButton reading expert agronomist replies aloud.</a:t>
            </a:r>
            <a:br/>
            <a:r>
              <a:t>• Resilient offline Pune agronomy knowledge fallback.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t>EXECUTIVE INFOGRAPHIC</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t>AgriVision: Smart Decision-Support for Every Farmer</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t>Simple to understand • Built for rural realities • Voice-enabled for universal access.</a:t>
            </a:r>
          </a:p>
        </p:txBody>
      </p:sp>
      <p:sp>
        <p:nvSpPr>
          <p:cNvPr id="5" name="Rounded Rectangle 4"/>
          <p:cNvSpPr/>
          <p:nvPr/>
        </p:nvSpPr>
        <p:spPr>
          <a:xfrm>
            <a:off x="731520" y="1920240"/>
            <a:ext cx="34747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59669"/>
                </a:solidFill>
              </a:defRPr>
            </a:pPr>
            <a:r>
              <a:t>🌱</a:t>
            </a:r>
            <a:br/>
            <a:br/>
            <a:r>
              <a:t>WHO WE ARE</a:t>
            </a:r>
          </a:p>
          <a:p>
            <a:br/>
            <a:pPr>
              <a:defRPr sz="1200">
                <a:solidFill>
                  <a:srgbClr val="0F172A"/>
                </a:solidFill>
              </a:defRPr>
            </a:pPr>
            <a:r>
              <a:t>An AI-powered agricultural intelligence platform built specifically for Indian smallholders, translating complex science into simple local-language guidance.</a:t>
            </a:r>
          </a:p>
        </p:txBody>
      </p:sp>
      <p:sp>
        <p:nvSpPr>
          <p:cNvPr id="6" name="Rounded Rectangle 5"/>
          <p:cNvSpPr/>
          <p:nvPr/>
        </p:nvSpPr>
        <p:spPr>
          <a:xfrm>
            <a:off x="4389120" y="1920240"/>
            <a:ext cx="34747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59669"/>
                </a:solidFill>
              </a:defRPr>
            </a:pPr>
            <a:r>
              <a:t>🎯</a:t>
            </a:r>
            <a:br/>
            <a:br/>
            <a:r>
              <a:t>WHY WE EXIST</a:t>
            </a:r>
          </a:p>
          <a:p>
            <a:br/>
            <a:pPr>
              <a:defRPr sz="1200">
                <a:solidFill>
                  <a:srgbClr val="0F172A"/>
                </a:solidFill>
              </a:defRPr>
            </a:pPr>
            <a:r>
              <a:t>Because diagnosing plant leaf diseases, knowing fair wholesale mandi prices, and balancing soil fertilizers shouldn't require an advanced science degree.</a:t>
            </a:r>
          </a:p>
        </p:txBody>
      </p:sp>
      <p:sp>
        <p:nvSpPr>
          <p:cNvPr id="7" name="Rounded Rectangle 6"/>
          <p:cNvSpPr/>
          <p:nvPr/>
        </p:nvSpPr>
        <p:spPr>
          <a:xfrm>
            <a:off x="8046720" y="1920240"/>
            <a:ext cx="34747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59669"/>
                </a:solidFill>
              </a:defRPr>
            </a:pPr>
            <a:r>
              <a:t>💡</a:t>
            </a:r>
            <a:br/>
            <a:br/>
            <a:r>
              <a:t>HOW WE SOLVE IT</a:t>
            </a:r>
          </a:p>
          <a:p>
            <a:br/>
            <a:pPr>
              <a:defRPr sz="1200">
                <a:solidFill>
                  <a:srgbClr val="0F172A"/>
                </a:solidFill>
              </a:defRPr>
            </a:pPr>
            <a:r>
              <a:t>Instant camera disease diagnosis, 15L pump dosages, live 8-mandi price spreads, 7-day price forecasts, and spoken Marathi voice guidance.</a:t>
            </a:r>
          </a:p>
        </p:txBody>
      </p:sp>
      <p:sp>
        <p:nvSpPr>
          <p:cNvPr id="8" name="Rounded Rectangle 7"/>
          <p:cNvSpPr/>
          <p:nvPr/>
        </p:nvSpPr>
        <p:spPr>
          <a:xfrm>
            <a:off x="731520" y="5577840"/>
            <a:ext cx="10725912" cy="594360"/>
          </a:xfrm>
          <a:prstGeom prst="round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200" b="1">
                <a:solidFill>
                  <a:srgbClr val="FFFFFF"/>
                </a:solidFill>
              </a:defRPr>
            </a:pPr>
            <a:r>
              <a:t>🔊 Need help? Press the big green button or listen in Marathi anytime! (मराठीत बोलून माहिती ऐका)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1645920"/>
            <a:ext cx="10698480" cy="731520"/>
          </a:xfrm>
          <a:prstGeom prst="rect">
            <a:avLst/>
          </a:prstGeom>
          <a:noFill/>
        </p:spPr>
        <p:txBody>
          <a:bodyPr wrap="none">
            <a:spAutoFit/>
          </a:bodyPr>
          <a:lstStyle/>
          <a:p>
            <a:pPr algn="ctr">
              <a:defRPr sz="4000"/>
            </a:pPr>
            <a:r>
              <a:t>🌾</a:t>
            </a:r>
          </a:p>
        </p:txBody>
      </p:sp>
      <p:sp>
        <p:nvSpPr>
          <p:cNvPr id="3" name="TextBox 2"/>
          <p:cNvSpPr txBox="1"/>
          <p:nvPr/>
        </p:nvSpPr>
        <p:spPr>
          <a:xfrm>
            <a:off x="731520" y="2468880"/>
            <a:ext cx="10698480" cy="1645920"/>
          </a:xfrm>
          <a:prstGeom prst="rect">
            <a:avLst/>
          </a:prstGeom>
          <a:noFill/>
        </p:spPr>
        <p:txBody>
          <a:bodyPr wrap="square">
            <a:spAutoFit/>
          </a:bodyPr>
          <a:lstStyle/>
          <a:p>
            <a:pPr algn="ctr">
              <a:defRPr sz="3200" b="1">
                <a:solidFill>
                  <a:srgbClr val="FFFFFF"/>
                </a:solidFill>
              </a:defRPr>
            </a:pPr>
            <a:r>
              <a:t>Empowering Every Farmer with Technology &amp; Dignity</a:t>
            </a:r>
          </a:p>
          <a:p>
            <a:br/>
            <a:pPr algn="ctr">
              <a:defRPr sz="1300">
                <a:solidFill>
                  <a:srgbClr val="CBD5E1"/>
                </a:solidFill>
              </a:defRPr>
            </a:pPr>
            <a:r>
              <a:t>AgriVision bridges the digital divide with multimodal AI, transparent mandi forecasting, and voice accessibility.</a:t>
            </a:r>
            <a:br/>
            <a:r>
              <a:t>Transforming agriculture from uncertainty into precision, sustainability, and prosperity.</a:t>
            </a:r>
          </a:p>
        </p:txBody>
      </p:sp>
      <p:sp>
        <p:nvSpPr>
          <p:cNvPr id="4" name="Rounded Rectangle 3"/>
          <p:cNvSpPr/>
          <p:nvPr/>
        </p:nvSpPr>
        <p:spPr>
          <a:xfrm>
            <a:off x="3931920" y="4754880"/>
            <a:ext cx="2103120" cy="41148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FFFFFF"/>
                </a:solidFill>
              </a:defRPr>
            </a:pPr>
            <a:r>
              <a:t>Questions &amp; Feedback</a:t>
            </a:r>
          </a:p>
        </p:txBody>
      </p:sp>
      <p:sp>
        <p:nvSpPr>
          <p:cNvPr id="5" name="Rounded Rectangle 4"/>
          <p:cNvSpPr/>
          <p:nvPr/>
        </p:nvSpPr>
        <p:spPr>
          <a:xfrm>
            <a:off x="6217920" y="4754880"/>
            <a:ext cx="2103120" cy="41148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10B981"/>
                </a:solidFill>
              </a:defRPr>
            </a:pPr>
            <a:r>
              <a:t>contact@agrivision.in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